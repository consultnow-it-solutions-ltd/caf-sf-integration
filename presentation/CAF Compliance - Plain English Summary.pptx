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7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A31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eya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640080"/>
            <a:ext cx="1554480" cy="80152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2377440"/>
            <a:ext cx="100584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400" b="1" i="0">
                <a:solidFill>
                  <a:srgbClr val="FFFFFF"/>
                </a:solidFill>
                <a:latin typeface="Calibri"/>
              </a:rPr>
              <a:t>CAF Compliance</a:t>
            </a:r>
          </a:p>
          <a:p>
            <a:pPr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</a:pPr>
            <a:r>
              <a:rPr sz="2200" b="0" i="0">
                <a:solidFill>
                  <a:srgbClr val="A8B4CC"/>
                </a:solidFill>
                <a:latin typeface="Calibri"/>
              </a:rPr>
              <a:t>What it is, and why we built it this way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297680"/>
            <a:ext cx="2011680" cy="38100"/>
          </a:xfrm>
          <a:prstGeom prst="rect">
            <a:avLst/>
          </a:prstGeom>
          <a:solidFill>
            <a:srgbClr val="0A31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4590288"/>
            <a:ext cx="100584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In plain English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9893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A8B4CC"/>
                </a:solidFill>
                <a:latin typeface="Calibri"/>
              </a:rPr>
              <a:t>Confidential — prepared by Reyan Technologies. Not for redistribution without written consent.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00724"/>
                </a:solidFill>
                <a:latin typeface="Calibri"/>
              </a:rPr>
              <a:t>Proving the important things are looked after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133856"/>
            <a:ext cx="1371600" cy="38100"/>
          </a:xfrm>
          <a:prstGeom prst="rect">
            <a:avLst/>
          </a:prstGeom>
          <a:solidFill>
            <a:srgbClr val="0A31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353312"/>
            <a:ext cx="1063721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06676"/>
                </a:solidFill>
                <a:latin typeface="Calibri"/>
              </a:rPr>
              <a:t>Some business applications matter enough that the company has to keep proving they are properly cared for.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27648"/>
            <a:ext cx="1018001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06676"/>
                </a:solidFill>
                <a:latin typeface="Calibri"/>
              </a:rPr>
              <a:t>Confidential — prepared by Reyan Technologies. Not for redistribution without written consent.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57255" y="6327648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fld id="{B7A2E3C1-4F6D-4A9E-9C31-2D5E8F0A7B44}" type="slidenum">
              <a:rPr lang="en-GB" sz="800">
                <a:solidFill>
                  <a:srgbClr val="606676"/>
                </a:solidFill>
                <a:latin typeface="Calibri"/>
              </a:rPr>
              <a:t>2</a:t>
            </a:fld>
          </a:p>
        </p:txBody>
      </p:sp>
      <p:sp>
        <p:nvSpPr>
          <p:cNvPr id="7" name="TextBox 6"/>
          <p:cNvSpPr txBox="1"/>
          <p:nvPr/>
        </p:nvSpPr>
        <p:spPr>
          <a:xfrm>
            <a:off x="777240" y="1956816"/>
            <a:ext cx="10637215" cy="3986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1500" b="1">
                <a:solidFill>
                  <a:srgbClr val="0A3176"/>
                </a:solidFill>
                <a:latin typeface="Calibri"/>
              </a:rPr>
              <a:t>They are backed up, and can actually be restored.  </a:t>
            </a:r>
            <a:r>
              <a:rPr sz="1500">
                <a:solidFill>
                  <a:srgbClr val="1A1A1A"/>
                </a:solidFill>
                <a:latin typeface="Calibri"/>
              </a:rPr>
              <a:t>Not that a backup job ran — that someone has checked it would work.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1500" b="1">
                <a:solidFill>
                  <a:srgbClr val="0A3176"/>
                </a:solidFill>
                <a:latin typeface="Calibri"/>
              </a:rPr>
              <a:t>There is a tested plan for a serious failure.  </a:t>
            </a:r>
            <a:r>
              <a:rPr sz="1500">
                <a:solidFill>
                  <a:srgbClr val="1A1A1A"/>
                </a:solidFill>
                <a:latin typeface="Calibri"/>
              </a:rPr>
              <a:t>And an agreed answer to how quickly the application must be back.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1500" b="1">
                <a:solidFill>
                  <a:srgbClr val="0A3176"/>
                </a:solidFill>
                <a:latin typeface="Calibri"/>
              </a:rPr>
              <a:t>Someone accountable has put their name to it.  </a:t>
            </a:r>
            <a:r>
              <a:rPr sz="1500">
                <a:solidFill>
                  <a:srgbClr val="1A1A1A"/>
                </a:solidFill>
                <a:latin typeface="Calibri"/>
              </a:rPr>
              <a:t>A person, on the record, not a green tick generated by a system.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5029200"/>
            <a:ext cx="10637215" cy="62179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029200"/>
            <a:ext cx="44450" cy="621792"/>
          </a:xfrm>
          <a:prstGeom prst="rect">
            <a:avLst/>
          </a:prstGeom>
          <a:solidFill>
            <a:srgbClr val="0A31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5157216"/>
            <a:ext cx="10180015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00724"/>
                </a:solidFill>
                <a:latin typeface="Calibri"/>
              </a:rPr>
              <a:t>And it is never finished. Every application, against every standard, on a repeating cycle.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00724"/>
                </a:solidFill>
                <a:latin typeface="Calibri"/>
              </a:rPr>
              <a:t>The rules were never 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133856"/>
            <a:ext cx="1371600" cy="38100"/>
          </a:xfrm>
          <a:prstGeom prst="rect">
            <a:avLst/>
          </a:prstGeom>
          <a:solidFill>
            <a:srgbClr val="0A31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353312"/>
            <a:ext cx="1063721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06676"/>
                </a:solidFill>
                <a:latin typeface="Calibri"/>
              </a:rPr>
              <a:t>All of this already worked. The difficulty was at the last step — getting people to sign.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27648"/>
            <a:ext cx="1018001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06676"/>
                </a:solidFill>
                <a:latin typeface="Calibri"/>
              </a:rPr>
              <a:t>Confidential — prepared by Reyan Technologies. Not for redistribution without written consent.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57255" y="6327648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fld id="{B7A2E3C1-4F6D-4A9E-9C31-2D5E8F0A7B44}" type="slidenum">
              <a:rPr lang="en-GB" sz="800">
                <a:solidFill>
                  <a:srgbClr val="606676"/>
                </a:solidFill>
                <a:latin typeface="Calibri"/>
              </a:rPr>
              <a:t>2</a:t>
            </a:fld>
          </a:p>
        </p:txBody>
      </p:sp>
      <p:sp>
        <p:nvSpPr>
          <p:cNvPr id="7" name="TextBox 6"/>
          <p:cNvSpPr txBox="1"/>
          <p:nvPr/>
        </p:nvSpPr>
        <p:spPr>
          <a:xfrm>
            <a:off x="777240" y="1901952"/>
            <a:ext cx="10637215" cy="4041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1400"/>
              </a:spcAft>
            </a:pPr>
            <a:r>
              <a:rPr sz="1500" b="1">
                <a:solidFill>
                  <a:srgbClr val="0A3176"/>
                </a:solidFill>
                <a:latin typeface="Calibri"/>
              </a:rPr>
              <a:t>The machinery was sound.  </a:t>
            </a:r>
            <a:r>
              <a:rPr sz="1500">
                <a:solidFill>
                  <a:srgbClr val="1A1A1A"/>
                </a:solidFill>
                <a:latin typeface="Calibri"/>
              </a:rPr>
              <a:t>The standards, the repeating schedule, the chasing of anything overdue, the audit trail. None of it needed changing.</a:t>
            </a:r>
          </a:p>
          <a:p>
            <a:pPr>
              <a:lnSpc>
                <a:spcPct val="122000"/>
              </a:lnSpc>
              <a:spcAft>
                <a:spcPts val="1400"/>
              </a:spcAft>
            </a:pPr>
            <a:r>
              <a:rPr sz="1500" b="1">
                <a:solidFill>
                  <a:srgbClr val="0A3176"/>
                </a:solidFill>
                <a:latin typeface="Calibri"/>
              </a:rPr>
              <a:t>But the cost grew with the number of people we asked.  </a:t>
            </a:r>
            <a:r>
              <a:rPr sz="1500">
                <a:solidFill>
                  <a:srgbClr val="1A1A1A"/>
                </a:solidFill>
                <a:latin typeface="Calibri"/>
              </a:rPr>
              <a:t>Everyone who had to sign something off needed an account in a system they otherwise never opened — and every one of those accounts costs money.</a:t>
            </a:r>
          </a:p>
          <a:p>
            <a:pPr>
              <a:lnSpc>
                <a:spcPct val="122000"/>
              </a:lnSpc>
              <a:spcAft>
                <a:spcPts val="1400"/>
              </a:spcAft>
            </a:pPr>
            <a:r>
              <a:rPr sz="1500" b="1">
                <a:solidFill>
                  <a:srgbClr val="0A3176"/>
                </a:solidFill>
                <a:latin typeface="Calibri"/>
              </a:rPr>
              <a:t>So take-up was poor, and the record went stale.  </a:t>
            </a:r>
            <a:r>
              <a:rPr sz="1500">
                <a:solidFill>
                  <a:srgbClr val="1A1A1A"/>
                </a:solidFill>
                <a:latin typeface="Calibri"/>
              </a:rPr>
              <a:t>Not because anyone disagreed with the checks. Because of where they had to go to do them.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4370832"/>
            <a:ext cx="10637215" cy="64008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4370832"/>
            <a:ext cx="44450" cy="640080"/>
          </a:xfrm>
          <a:prstGeom prst="rect">
            <a:avLst/>
          </a:prstGeom>
          <a:solidFill>
            <a:srgbClr val="A81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4498848"/>
            <a:ext cx="101800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00724"/>
                </a:solidFill>
                <a:latin typeface="Calibri"/>
              </a:rPr>
              <a:t>“I'm not logging into another system just for this.”  That sentence is the whole problem.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00724"/>
                </a:solidFill>
                <a:latin typeface="Calibri"/>
              </a:rPr>
              <a:t>We moved the front door, not the machinery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133856"/>
            <a:ext cx="1371600" cy="38100"/>
          </a:xfrm>
          <a:prstGeom prst="rect">
            <a:avLst/>
          </a:prstGeom>
          <a:solidFill>
            <a:srgbClr val="0A31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353312"/>
            <a:ext cx="1063721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06676"/>
                </a:solidFill>
                <a:latin typeface="Calibri"/>
              </a:rPr>
              <a:t>The rules stayed exactly where they were. What changed is where people go to use them.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27648"/>
            <a:ext cx="1018001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06676"/>
                </a:solidFill>
                <a:latin typeface="Calibri"/>
              </a:rPr>
              <a:t>Confidential — prepared by Reyan Technologies. Not for redistribution without written consent.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57255" y="6327648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fld id="{B7A2E3C1-4F6D-4A9E-9C31-2D5E8F0A7B44}" type="slidenum">
              <a:rPr lang="en-GB" sz="800">
                <a:solidFill>
                  <a:srgbClr val="606676"/>
                </a:solidFill>
                <a:latin typeface="Calibri"/>
              </a:rPr>
              <a:t>2</a:t>
            </a:fld>
          </a:p>
        </p:txBody>
      </p:sp>
      <p:sp>
        <p:nvSpPr>
          <p:cNvPr id="7" name="Rectangle 6"/>
          <p:cNvSpPr/>
          <p:nvPr/>
        </p:nvSpPr>
        <p:spPr>
          <a:xfrm>
            <a:off x="777240" y="1975104"/>
            <a:ext cx="5135727" cy="365760"/>
          </a:xfrm>
          <a:prstGeom prst="rect">
            <a:avLst/>
          </a:prstGeom>
          <a:solidFill>
            <a:srgbClr val="0007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057400"/>
            <a:ext cx="513572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The record office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487168"/>
            <a:ext cx="4788255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55448" indent="-155448">
              <a:lnSpc>
                <a:spcPct val="118000"/>
              </a:lnSpc>
              <a:spcAft>
                <a:spcPts val="13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·  Holds the official record.</a:t>
            </a:r>
          </a:p>
          <a:p>
            <a:pPr marL="155448" indent="-155448">
              <a:lnSpc>
                <a:spcPct val="118000"/>
              </a:lnSpc>
              <a:spcAft>
                <a:spcPts val="13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·  Decides what is due, what is late, and what counts as compliant.</a:t>
            </a:r>
          </a:p>
          <a:p>
            <a:pPr marL="155448" indent="-155448">
              <a:lnSpc>
                <a:spcPct val="118000"/>
              </a:lnSpc>
              <a:spcAft>
                <a:spcPts val="13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·  Every decision is still made here, under the rules that already existed.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8727" y="1975104"/>
            <a:ext cx="5135727" cy="365760"/>
          </a:xfrm>
          <a:prstGeom prst="rect">
            <a:avLst/>
          </a:prstGeom>
          <a:solidFill>
            <a:srgbClr val="0A31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1607" y="2057400"/>
            <a:ext cx="513572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The front desk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1607" y="2487168"/>
            <a:ext cx="4788255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55448" indent="-155448">
              <a:lnSpc>
                <a:spcPct val="118000"/>
              </a:lnSpc>
              <a:spcAft>
                <a:spcPts val="13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·  Where people actually turn up — the system they already have open all day.</a:t>
            </a:r>
          </a:p>
          <a:p>
            <a:pPr marL="155448" indent="-155448">
              <a:lnSpc>
                <a:spcPct val="118000"/>
              </a:lnSpc>
              <a:spcAft>
                <a:spcPts val="13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·  Shows them their applications, takes their evidence, takes their sign-off.</a:t>
            </a:r>
          </a:p>
          <a:p>
            <a:pPr marL="155448" indent="-155448">
              <a:lnSpc>
                <a:spcPct val="118000"/>
              </a:lnSpc>
              <a:spcAft>
                <a:spcPts val="13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·  Passes each request to the record office and shows what came back.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4498848"/>
            <a:ext cx="10637215" cy="786384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4498848"/>
            <a:ext cx="44450" cy="786384"/>
          </a:xfrm>
          <a:prstGeom prst="rect">
            <a:avLst/>
          </a:prstGeom>
          <a:solidFill>
            <a:srgbClr val="0B6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" y="4626864"/>
            <a:ext cx="10180015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00724"/>
                </a:solidFill>
                <a:latin typeface="Calibri"/>
              </a:rPr>
              <a:t>The front desk never keeps its own version of the truth. It shows a copy of the official record — so the two can never quietly disagree about what was decided.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504688"/>
            <a:ext cx="1063721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1">
                <a:solidFill>
                  <a:srgbClr val="0A3176"/>
                </a:solidFill>
                <a:latin typeface="Calibri"/>
              </a:rPr>
              <a:t>The person doing the work never sees the join.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00724"/>
                </a:solidFill>
                <a:latin typeface="Calibri"/>
              </a:rPr>
              <a:t>A copy nobody checks is worse than no copy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133856"/>
            <a:ext cx="1371600" cy="38100"/>
          </a:xfrm>
          <a:prstGeom prst="rect">
            <a:avLst/>
          </a:prstGeom>
          <a:solidFill>
            <a:srgbClr val="0A31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353312"/>
            <a:ext cx="1063721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06676"/>
                </a:solidFill>
                <a:latin typeface="Calibri"/>
              </a:rPr>
              <a:t>Because people believe it. So something has to be watching.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27648"/>
            <a:ext cx="1018001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06676"/>
                </a:solidFill>
                <a:latin typeface="Calibri"/>
              </a:rPr>
              <a:t>Confidential — prepared by Reyan Technologies. Not for redistribution without written consent.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57255" y="6327648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fld id="{B7A2E3C1-4F6D-4A9E-9C31-2D5E8F0A7B44}" type="slidenum">
              <a:rPr lang="en-GB" sz="800">
                <a:solidFill>
                  <a:srgbClr val="606676"/>
                </a:solidFill>
                <a:latin typeface="Calibri"/>
              </a:rPr>
              <a:t>2</a:t>
            </a:fld>
          </a:p>
        </p:txBody>
      </p:sp>
      <p:sp>
        <p:nvSpPr>
          <p:cNvPr id="7" name="TextBox 6"/>
          <p:cNvSpPr txBox="1"/>
          <p:nvPr/>
        </p:nvSpPr>
        <p:spPr>
          <a:xfrm>
            <a:off x="777240" y="1901952"/>
            <a:ext cx="10637215" cy="4041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1400"/>
              </a:spcAft>
            </a:pPr>
            <a:r>
              <a:rPr sz="1500" b="1">
                <a:solidFill>
                  <a:srgbClr val="0A3176"/>
                </a:solidFill>
                <a:latin typeface="Calibri"/>
              </a:rPr>
              <a:t>The system checks itself, and says so.  </a:t>
            </a:r>
            <a:r>
              <a:rPr sz="1500">
                <a:solidFill>
                  <a:srgbClr val="1A1A1A"/>
                </a:solidFill>
                <a:latin typeface="Calibri"/>
              </a:rPr>
              <a:t>It compares the copy against the official record and reports any disagreement, rather than waiting for someone to notice a number that looks wrong.</a:t>
            </a:r>
          </a:p>
          <a:p>
            <a:pPr>
              <a:lnSpc>
                <a:spcPct val="122000"/>
              </a:lnSpc>
              <a:spcAft>
                <a:spcPts val="1400"/>
              </a:spcAft>
            </a:pPr>
            <a:r>
              <a:rPr sz="1500" b="1">
                <a:solidFill>
                  <a:srgbClr val="0A3176"/>
                </a:solidFill>
                <a:latin typeface="Calibri"/>
              </a:rPr>
              <a:t>It only ever corrects the copy — never the original.  </a:t>
            </a:r>
            <a:r>
              <a:rPr sz="1500">
                <a:solidFill>
                  <a:srgbClr val="1A1A1A"/>
                </a:solidFill>
                <a:latin typeface="Calibri"/>
              </a:rPr>
              <a:t>If the two disagree, the official record wins by definition. There is nothing to negotiate.</a:t>
            </a:r>
          </a:p>
          <a:p>
            <a:pPr>
              <a:lnSpc>
                <a:spcPct val="122000"/>
              </a:lnSpc>
              <a:spcAft>
                <a:spcPts val="1400"/>
              </a:spcAft>
            </a:pPr>
            <a:r>
              <a:rPr sz="1500" b="1">
                <a:solidFill>
                  <a:srgbClr val="0A3176"/>
                </a:solidFill>
                <a:latin typeface="Calibri"/>
              </a:rPr>
              <a:t>It never repairs anything on its own.  </a:t>
            </a:r>
            <a:r>
              <a:rPr sz="1500">
                <a:solidFill>
                  <a:srgbClr val="1A1A1A"/>
                </a:solidFill>
                <a:latin typeface="Calibri"/>
              </a:rPr>
              <a:t>A person sees the difference and decides. Correcting things automatically risks turning a small display problem into a real one in the system of record.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00724"/>
                </a:solidFill>
                <a:latin typeface="Calibri"/>
              </a:rPr>
              <a:t>Evidence, and who is allowed to judge it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133856"/>
            <a:ext cx="1371600" cy="38100"/>
          </a:xfrm>
          <a:prstGeom prst="rect">
            <a:avLst/>
          </a:prstGeom>
          <a:solidFill>
            <a:srgbClr val="0A31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353312"/>
            <a:ext cx="1063721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06676"/>
                </a:solidFill>
                <a:latin typeface="Calibri"/>
              </a:rPr>
              <a:t>The two jobs are kept deliberately apart.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27648"/>
            <a:ext cx="1018001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06676"/>
                </a:solidFill>
                <a:latin typeface="Calibri"/>
              </a:rPr>
              <a:t>Confidential — prepared by Reyan Technologies. Not for redistribution without written consent.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57255" y="6327648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fld id="{B7A2E3C1-4F6D-4A9E-9C31-2D5E8F0A7B44}" type="slidenum">
              <a:rPr lang="en-GB" sz="800">
                <a:solidFill>
                  <a:srgbClr val="606676"/>
                </a:solidFill>
                <a:latin typeface="Calibri"/>
              </a:rPr>
              <a:t>2</a:t>
            </a:fld>
          </a:p>
        </p:txBody>
      </p:sp>
      <p:sp>
        <p:nvSpPr>
          <p:cNvPr id="7" name="TextBox 6"/>
          <p:cNvSpPr txBox="1"/>
          <p:nvPr/>
        </p:nvSpPr>
        <p:spPr>
          <a:xfrm>
            <a:off x="777240" y="1865376"/>
            <a:ext cx="10637215" cy="40782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1100"/>
              </a:spcAft>
            </a:pPr>
            <a:r>
              <a:rPr sz="1350" b="1">
                <a:solidFill>
                  <a:srgbClr val="0A3176"/>
                </a:solidFill>
                <a:latin typeface="Calibri"/>
              </a:rPr>
              <a:t>The owner provides the proof.  </a:t>
            </a:r>
            <a:r>
              <a:rPr sz="1350">
                <a:solidFill>
                  <a:srgbClr val="1A1A1A"/>
                </a:solidFill>
                <a:latin typeface="Calibri"/>
              </a:rPr>
              <a:t>Uploaded against the specific check it belongs to, without leaving the system they already use.</a:t>
            </a:r>
          </a:p>
          <a:p>
            <a:pPr>
              <a:lnSpc>
                <a:spcPct val="122000"/>
              </a:lnSpc>
              <a:spcAft>
                <a:spcPts val="1100"/>
              </a:spcAft>
            </a:pPr>
            <a:r>
              <a:rPr sz="1350" b="1">
                <a:solidFill>
                  <a:srgbClr val="0A3176"/>
                </a:solidFill>
                <a:latin typeface="Calibri"/>
              </a:rPr>
              <a:t>Somebody else judges it.  </a:t>
            </a:r>
            <a:r>
              <a:rPr sz="1350">
                <a:solidFill>
                  <a:srgbClr val="1A1A1A"/>
                </a:solidFill>
                <a:latin typeface="Calibri"/>
              </a:rPr>
              <a:t>The approver can see the evidence but cannot add to it. Gathering proof and ruling on it are different jobs, done by different people.</a:t>
            </a:r>
          </a:p>
          <a:p>
            <a:pPr>
              <a:lnSpc>
                <a:spcPct val="122000"/>
              </a:lnSpc>
              <a:spcAft>
                <a:spcPts val="1100"/>
              </a:spcAft>
            </a:pPr>
            <a:r>
              <a:rPr sz="1350" b="1">
                <a:solidFill>
                  <a:srgbClr val="0A3176"/>
                </a:solidFill>
                <a:latin typeface="Calibri"/>
              </a:rPr>
              <a:t>No evidence, no sign-off.  </a:t>
            </a:r>
            <a:r>
              <a:rPr sz="1350">
                <a:solidFill>
                  <a:srgbClr val="1A1A1A"/>
                </a:solidFill>
                <a:latin typeface="Calibri"/>
              </a:rPr>
              <a:t>An attestation with nothing behind it is refused outright, rather than accepted and queried later.</a:t>
            </a:r>
          </a:p>
          <a:p>
            <a:pPr>
              <a:lnSpc>
                <a:spcPct val="122000"/>
              </a:lnSpc>
              <a:spcAft>
                <a:spcPts val="1100"/>
              </a:spcAft>
            </a:pPr>
            <a:r>
              <a:rPr sz="1350" b="1">
                <a:solidFill>
                  <a:srgbClr val="0A3176"/>
                </a:solidFill>
                <a:latin typeface="Calibri"/>
              </a:rPr>
              <a:t>Every file is kept in both places.  </a:t>
            </a:r>
            <a:r>
              <a:rPr sz="1350">
                <a:solidFill>
                  <a:srgbClr val="1A1A1A"/>
                </a:solidFill>
                <a:latin typeface="Calibri"/>
              </a:rPr>
              <a:t>So an auditor can always be handed the copy held in the official record.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4279392"/>
            <a:ext cx="10637215" cy="71323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4279392"/>
            <a:ext cx="44450" cy="713232"/>
          </a:xfrm>
          <a:prstGeom prst="rect">
            <a:avLst/>
          </a:prstGeom>
          <a:solidFill>
            <a:srgbClr val="0B6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4407408"/>
            <a:ext cx="10180015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00724"/>
                </a:solidFill>
                <a:latin typeface="Calibri"/>
              </a:rPr>
              <a:t>Separating the two is what makes a sign-off worth anything: the person who did the work is not the person who says it was done properly.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00724"/>
                </a:solidFill>
                <a:latin typeface="Calibri"/>
              </a:rPr>
              <a:t>Where this stands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133856"/>
            <a:ext cx="1371600" cy="38100"/>
          </a:xfrm>
          <a:prstGeom prst="rect">
            <a:avLst/>
          </a:prstGeom>
          <a:solidFill>
            <a:srgbClr val="0A31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6327648"/>
            <a:ext cx="1018001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06676"/>
                </a:solidFill>
                <a:latin typeface="Calibri"/>
              </a:rPr>
              <a:t>Confidential — prepared by Reyan Technologies. Not for redistribution without written consent.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7255" y="6327648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fld id="{B7A2E3C1-4F6D-4A9E-9C31-2D5E8F0A7B44}" type="slidenum">
              <a:rPr lang="en-GB" sz="800">
                <a:solidFill>
                  <a:srgbClr val="606676"/>
                </a:solidFill>
                <a:latin typeface="Calibri"/>
              </a:rPr>
              <a:t>2</a:t>
            </a:fld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5135727" cy="365760"/>
          </a:xfrm>
          <a:prstGeom prst="rect">
            <a:avLst/>
          </a:prstGeom>
          <a:solidFill>
            <a:srgbClr val="0B6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36776"/>
            <a:ext cx="513572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Built, and demonstrated on real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066544"/>
            <a:ext cx="4788255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55448" indent="-155448">
              <a:lnSpc>
                <a:spcPct val="118000"/>
              </a:lnSpc>
              <a:spcAft>
                <a:spcPts val="1200"/>
              </a:spcAft>
            </a:pPr>
            <a:r>
              <a:rPr sz="1250">
                <a:solidFill>
                  <a:srgbClr val="1A1A1A"/>
                </a:solidFill>
                <a:latin typeface="Calibri"/>
              </a:rPr>
              <a:t>·  The at-a-glance view of every application and every standard.</a:t>
            </a:r>
          </a:p>
          <a:p>
            <a:pPr marL="155448" indent="-155448">
              <a:lnSpc>
                <a:spcPct val="118000"/>
              </a:lnSpc>
              <a:spcAft>
                <a:spcPts val="1200"/>
              </a:spcAft>
            </a:pPr>
            <a:r>
              <a:rPr sz="1250">
                <a:solidFill>
                  <a:srgbClr val="1A1A1A"/>
                </a:solidFill>
                <a:latin typeface="Calibri"/>
              </a:rPr>
              <a:t>·  Drill-down from that view to the individual piece of work.</a:t>
            </a:r>
          </a:p>
          <a:p>
            <a:pPr marL="155448" indent="-155448">
              <a:lnSpc>
                <a:spcPct val="118000"/>
              </a:lnSpc>
              <a:spcAft>
                <a:spcPts val="1200"/>
              </a:spcAft>
            </a:pPr>
            <a:r>
              <a:rPr sz="1250">
                <a:solidFill>
                  <a:srgbClr val="1A1A1A"/>
                </a:solidFill>
                <a:latin typeface="Calibri"/>
              </a:rPr>
              <a:t>·  Evidence upload and sign-off, end to end.</a:t>
            </a:r>
          </a:p>
          <a:p>
            <a:pPr marL="155448" indent="-155448">
              <a:lnSpc>
                <a:spcPct val="118000"/>
              </a:lnSpc>
              <a:spcAft>
                <a:spcPts val="1200"/>
              </a:spcAft>
            </a:pPr>
            <a:r>
              <a:rPr sz="1250">
                <a:solidFill>
                  <a:srgbClr val="1A1A1A"/>
                </a:solidFill>
                <a:latin typeface="Calibri"/>
              </a:rPr>
              <a:t>·  The checker that keeps the two systems honest.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78727" y="1554480"/>
            <a:ext cx="5135727" cy="365760"/>
          </a:xfrm>
          <a:prstGeom prst="rect">
            <a:avLst/>
          </a:prstGeom>
          <a:solidFill>
            <a:srgbClr val="B2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61607" y="1636776"/>
            <a:ext cx="513572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Still to come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61607" y="2066544"/>
            <a:ext cx="4788255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55448" indent="-155448">
              <a:lnSpc>
                <a:spcPct val="118000"/>
              </a:lnSpc>
              <a:spcAft>
                <a:spcPts val="1200"/>
              </a:spcAft>
            </a:pPr>
            <a:r>
              <a:rPr sz="1250">
                <a:solidFill>
                  <a:srgbClr val="1A1A1A"/>
                </a:solidFill>
                <a:latin typeface="Calibri"/>
              </a:rPr>
              <a:t>·  A way in for people who hold no licence at all — the commercial half of the original idea.</a:t>
            </a:r>
          </a:p>
          <a:p>
            <a:pPr marL="155448" indent="-155448">
              <a:lnSpc>
                <a:spcPct val="118000"/>
              </a:lnSpc>
              <a:spcAft>
                <a:spcPts val="1200"/>
              </a:spcAft>
            </a:pPr>
            <a:r>
              <a:rPr sz="1250">
                <a:solidFill>
                  <a:srgbClr val="1A1A1A"/>
                </a:solidFill>
                <a:latin typeface="Calibri"/>
              </a:rPr>
              <a:t>·  Automated safety checks, before this carries real work.</a:t>
            </a:r>
          </a:p>
          <a:p>
            <a:pPr marL="155448" indent="-155448">
              <a:lnSpc>
                <a:spcPct val="118000"/>
              </a:lnSpc>
              <a:spcAft>
                <a:spcPts val="1200"/>
              </a:spcAft>
            </a:pPr>
            <a:r>
              <a:rPr sz="1250">
                <a:solidFill>
                  <a:srgbClr val="1A1A1A"/>
                </a:solidFill>
                <a:latin typeface="Calibri"/>
              </a:rPr>
              <a:t>·  Queuing, so a brief outage waits rather than fails.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572000"/>
            <a:ext cx="10637215" cy="71323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572000"/>
            <a:ext cx="44450" cy="713232"/>
          </a:xfrm>
          <a:prstGeom prst="rect">
            <a:avLst/>
          </a:prstGeom>
          <a:solidFill>
            <a:srgbClr val="0A31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4700016"/>
            <a:ext cx="10180015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00724"/>
                </a:solidFill>
                <a:latin typeface="Calibri"/>
              </a:rPr>
              <a:t>None of what remains touches the compliance rules themselves. Those were never the problem, and they have not been changed.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541264"/>
            <a:ext cx="1063721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1">
                <a:solidFill>
                  <a:srgbClr val="0A3176"/>
                </a:solidFill>
                <a:latin typeface="Calibri"/>
              </a:rPr>
              <a:t>The engine is untouched. Everything we built is delivery around 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