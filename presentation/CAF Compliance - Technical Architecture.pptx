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yan-logo.png"/>
          <p:cNvPicPr>
            <a:picLocks noChangeAspect="1"/>
          </p:cNvPicPr>
          <p:nvPr/>
        </p:nvPicPr>
        <p:blipFill>
          <a:blip r:embed="rId2"/>
          <a:stretch>
            <a:fillRect/>
          </a:stretch>
        </p:blipFill>
        <p:spPr>
          <a:xfrm>
            <a:off x="777240" y="640080"/>
            <a:ext cx="1554480" cy="801529"/>
          </a:xfrm>
          <a:prstGeom prst="rect">
            <a:avLst/>
          </a:prstGeom>
        </p:spPr>
      </p:pic>
      <p:sp>
        <p:nvSpPr>
          <p:cNvPr id="5" name="TextBox 4"/>
          <p:cNvSpPr txBox="1"/>
          <p:nvPr/>
        </p:nvSpPr>
        <p:spPr>
          <a:xfrm>
            <a:off x="777240" y="2286000"/>
            <a:ext cx="10058400" cy="2011680"/>
          </a:xfrm>
          <a:prstGeom prst="rect">
            <a:avLst/>
          </a:prstGeom>
          <a:noFill/>
        </p:spPr>
        <p:txBody>
          <a:bodyPr wrap="square" lIns="0" rIns="0" tIns="0" bIns="0">
            <a:spAutoFit/>
          </a:bodyPr>
          <a:lstStyle/>
          <a:p>
            <a:pPr algn="l">
              <a:spcBef>
                <a:spcPts val="0"/>
              </a:spcBef>
              <a:spcAft>
                <a:spcPts val="0"/>
              </a:spcAft>
            </a:pPr>
            <a:r>
              <a:rPr sz="5400" b="1" i="0">
                <a:solidFill>
                  <a:srgbClr val="FFFFFF"/>
                </a:solidFill>
                <a:latin typeface="Calibri"/>
              </a:rPr>
              <a:t>CAF Compliance</a:t>
            </a:r>
          </a:p>
          <a:p>
            <a:pPr algn="l">
              <a:lnSpc>
                <a:spcPct val="120000"/>
              </a:lnSpc>
              <a:spcBef>
                <a:spcPts val="1000"/>
              </a:spcBef>
              <a:spcAft>
                <a:spcPts val="0"/>
              </a:spcAft>
            </a:pPr>
            <a:r>
              <a:rPr sz="2100" b="0" i="0">
                <a:solidFill>
                  <a:srgbClr val="A8B4CC"/>
                </a:solidFill>
                <a:latin typeface="Calibri"/>
              </a:rPr>
              <a:t>Technical architecture and the integration contract</a:t>
            </a:r>
          </a:p>
        </p:txBody>
      </p:sp>
      <p:sp>
        <p:nvSpPr>
          <p:cNvPr id="6" name="Rectangle 5"/>
          <p:cNvSpPr/>
          <p:nvPr/>
        </p:nvSpPr>
        <p:spPr>
          <a:xfrm>
            <a:off x="777240" y="4206240"/>
            <a:ext cx="201168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498848"/>
            <a:ext cx="10058400" cy="1005840"/>
          </a:xfrm>
          <a:prstGeom prst="rect">
            <a:avLst/>
          </a:prstGeom>
          <a:noFill/>
        </p:spPr>
        <p:txBody>
          <a:bodyPr wrap="square" lIns="0" rIns="0" tIns="0" bIns="0">
            <a:spAutoFit/>
          </a:bodyPr>
          <a:lstStyle/>
          <a:p>
            <a:pPr algn="l">
              <a:spcBef>
                <a:spcPts val="0"/>
              </a:spcBef>
              <a:spcAft>
                <a:spcPts val="0"/>
              </a:spcAft>
            </a:pPr>
            <a:r>
              <a:rPr sz="1500" b="0" i="0">
                <a:solidFill>
                  <a:srgbClr val="FFFFFF"/>
                </a:solidFill>
                <a:latin typeface="Calibri"/>
              </a:rPr>
              <a:t>ServiceNow scoped app  ·  Salesforce Lightning  ·  bidirectional REST</a:t>
            </a:r>
          </a:p>
          <a:p>
            <a:pPr algn="l">
              <a:spcBef>
                <a:spcPts val="700"/>
              </a:spcBef>
              <a:spcAft>
                <a:spcPts val="0"/>
              </a:spcAft>
            </a:pPr>
            <a:r>
              <a:rPr sz="1300" b="0" i="0">
                <a:solidFill>
                  <a:srgbClr val="A8B4CC"/>
                </a:solidFill>
                <a:latin typeface="Calibri"/>
              </a:rPr>
              <a:t>Engineering brief — for the people who have to change it</a:t>
            </a:r>
          </a:p>
        </p:txBody>
      </p:sp>
      <p:sp>
        <p:nvSpPr>
          <p:cNvPr id="8" name="TextBox 7"/>
          <p:cNvSpPr txBox="1"/>
          <p:nvPr/>
        </p:nvSpPr>
        <p:spPr>
          <a:xfrm>
            <a:off x="777240" y="5989320"/>
            <a:ext cx="10058400" cy="365760"/>
          </a:xfrm>
          <a:prstGeom prst="rect">
            <a:avLst/>
          </a:prstGeom>
          <a:noFill/>
        </p:spPr>
        <p:txBody>
          <a:bodyPr wrap="square" lIns="0" rIns="0" tIns="0" bIns="0">
            <a:spAutoFit/>
          </a:bodyPr>
          <a:lstStyle/>
          <a:p>
            <a:pPr algn="l">
              <a:spcBef>
                <a:spcPts val="0"/>
              </a:spcBef>
              <a:spcAft>
                <a:spcPts val="0"/>
              </a:spcAft>
            </a:pPr>
            <a:r>
              <a:rPr sz="900" b="0" i="0">
                <a:solidFill>
                  <a:srgbClr val="A8B4CC"/>
                </a:solidFill>
                <a:latin typeface="Calibri"/>
              </a:rPr>
              <a:t>Confidential — prepared by Reyan Technologies. Not for redistribution without written consent.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rule everything else follows from</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One logical product, split across two platforms. The seam is the engagement layer, not the state machine.</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TextBox 6"/>
          <p:cNvSpPr txBox="1"/>
          <p:nvPr/>
        </p:nvSpPr>
        <p:spPr>
          <a:xfrm>
            <a:off x="777240" y="1865376"/>
            <a:ext cx="10637215" cy="4078224"/>
          </a:xfrm>
          <a:prstGeom prst="rect">
            <a:avLst/>
          </a:prstGeom>
          <a:noFill/>
        </p:spPr>
        <p:txBody>
          <a:bodyPr wrap="square" lIns="0" rIns="0" tIns="0" bIns="0">
            <a:spAutoFit/>
          </a:bodyPr>
          <a:lstStyle/>
          <a:p>
            <a:pPr>
              <a:lnSpc>
                <a:spcPct val="122000"/>
              </a:lnSpc>
              <a:spcAft>
                <a:spcPts val="1000"/>
              </a:spcAft>
            </a:pPr>
            <a:r>
              <a:rPr sz="1350" b="1">
                <a:solidFill>
                  <a:srgbClr val="0A3176"/>
                </a:solidFill>
                <a:latin typeface="Calibri"/>
              </a:rPr>
              <a:t>State and the system of record stay in ServiceNow.  </a:t>
            </a:r>
            <a:r>
              <a:rPr sz="1350">
                <a:solidFill>
                  <a:srgbClr val="1A1A1A"/>
                </a:solidFill>
                <a:latin typeface="Calibri"/>
              </a:rPr>
              <a:t>Recurrence arithmetic, next due date, overdue detection, state transitions, approvals and the security model are all state logic. Splitting state across two platforms produces split-brain: two schedulers, two truths about whether a request is closed, and an audit trail nobody trusts.</a:t>
            </a:r>
          </a:p>
          <a:p>
            <a:pPr>
              <a:lnSpc>
                <a:spcPct val="122000"/>
              </a:lnSpc>
              <a:spcAft>
                <a:spcPts val="1000"/>
              </a:spcAft>
            </a:pPr>
            <a:r>
              <a:rPr sz="1350" b="1">
                <a:solidFill>
                  <a:srgbClr val="0A3176"/>
                </a:solidFill>
                <a:latin typeface="Calibri"/>
              </a:rPr>
              <a:t>Salesforce holds a mirror, never a second opinion.  </a:t>
            </a:r>
            <a:r>
              <a:rPr sz="1350">
                <a:solidFill>
                  <a:srgbClr val="1A1A1A"/>
                </a:solidFill>
                <a:latin typeface="Calibri"/>
              </a:rPr>
              <a:t>It renders, it collects, it submits. Every decision that changes a record is taken by a ServiceNow business rule, and the result is pushed back to the mirror.</a:t>
            </a:r>
          </a:p>
          <a:p>
            <a:pPr>
              <a:lnSpc>
                <a:spcPct val="122000"/>
              </a:lnSpc>
              <a:spcAft>
                <a:spcPts val="1000"/>
              </a:spcAft>
            </a:pPr>
            <a:r>
              <a:rPr sz="1350" b="1">
                <a:solidFill>
                  <a:srgbClr val="0A3176"/>
                </a:solidFill>
                <a:latin typeface="Calibri"/>
              </a:rPr>
              <a:t>The engine is untouched.  </a:t>
            </a:r>
            <a:r>
              <a:rPr sz="1350">
                <a:solidFill>
                  <a:srgbClr val="1A1A1A"/>
                </a:solidFill>
                <a:latin typeface="Calibri"/>
              </a:rPr>
              <a:t>24 business rules, 2 script includes, 2 Flow Designer flows, 6 roles, 48+ ACLs and 2 scheduled jobs are exactly as they were. The integration adds to the app; it does not modify it.</a:t>
            </a:r>
          </a:p>
        </p:txBody>
      </p:sp>
      <p:sp>
        <p:nvSpPr>
          <p:cNvPr id="8" name="Rectangle 7"/>
          <p:cNvSpPr/>
          <p:nvPr/>
        </p:nvSpPr>
        <p:spPr>
          <a:xfrm>
            <a:off x="777240" y="5138928"/>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138928"/>
            <a:ext cx="44450" cy="713232"/>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5266944"/>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Read every design decision in this deck against that rule. Where the integration looks more complicated than it needs to be, it is almost always because the simpler version put a piece of state on the wrong side of the seam.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talks to what</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Two platforms, two credentials, two directions — and no shared database between them.</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74519"/>
            <a:ext cx="4160520" cy="331012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4160520"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56815"/>
            <a:ext cx="4160520"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ServiceNow  ·  x_gskn2_caf_compli</a:t>
            </a:r>
          </a:p>
        </p:txBody>
      </p:sp>
      <p:sp>
        <p:nvSpPr>
          <p:cNvPr id="10" name="Rectangle 9"/>
          <p:cNvSpPr/>
          <p:nvPr/>
        </p:nvSpPr>
        <p:spPr>
          <a:xfrm>
            <a:off x="941832" y="240487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249631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caf_req  ·  caf_tsk</a:t>
            </a:r>
          </a:p>
        </p:txBody>
      </p:sp>
      <p:sp>
        <p:nvSpPr>
          <p:cNvPr id="12" name="Rectangle 11"/>
          <p:cNvSpPr/>
          <p:nvPr/>
        </p:nvSpPr>
        <p:spPr>
          <a:xfrm>
            <a:off x="941832" y="295351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6" y="304495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caf_conformance_type  ·  caf_relationship</a:t>
            </a:r>
          </a:p>
        </p:txBody>
      </p:sp>
      <p:sp>
        <p:nvSpPr>
          <p:cNvPr id="14" name="Rectangle 13"/>
          <p:cNvSpPr/>
          <p:nvPr/>
        </p:nvSpPr>
        <p:spPr>
          <a:xfrm>
            <a:off x="941832" y="350215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359359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alibri"/>
              </a:rPr>
              <a:t>24 business rules  ·  2 flows</a:t>
            </a:r>
          </a:p>
        </p:txBody>
      </p:sp>
      <p:sp>
        <p:nvSpPr>
          <p:cNvPr id="16" name="Rectangle 15"/>
          <p:cNvSpPr/>
          <p:nvPr/>
        </p:nvSpPr>
        <p:spPr>
          <a:xfrm>
            <a:off x="941832" y="405079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414223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CAFSalesforceSync (script include)</a:t>
            </a:r>
          </a:p>
        </p:txBody>
      </p:sp>
      <p:sp>
        <p:nvSpPr>
          <p:cNvPr id="18" name="Rectangle 17"/>
          <p:cNvSpPr/>
          <p:nvPr/>
        </p:nvSpPr>
        <p:spPr>
          <a:xfrm>
            <a:off x="941832" y="459943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469087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alibri"/>
              </a:rPr>
              <a:t>Scripted REST API — 6 resources</a:t>
            </a:r>
          </a:p>
        </p:txBody>
      </p:sp>
      <p:sp>
        <p:nvSpPr>
          <p:cNvPr id="20" name="Rectangle 19"/>
          <p:cNvSpPr/>
          <p:nvPr/>
        </p:nvSpPr>
        <p:spPr>
          <a:xfrm>
            <a:off x="7253935" y="1874519"/>
            <a:ext cx="4160520" cy="331012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53935" y="1874519"/>
            <a:ext cx="4160520" cy="36576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8527" y="1956815"/>
            <a:ext cx="4160520"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Salesforce  ·  Lightning</a:t>
            </a:r>
          </a:p>
        </p:txBody>
      </p:sp>
      <p:sp>
        <p:nvSpPr>
          <p:cNvPr id="23" name="Rectangle 22"/>
          <p:cNvSpPr/>
          <p:nvPr/>
        </p:nvSpPr>
        <p:spPr>
          <a:xfrm>
            <a:off x="7418527" y="240487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9111" y="249631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CAF_Request__c  ·  CAF_Task__c</a:t>
            </a:r>
          </a:p>
        </p:txBody>
      </p:sp>
      <p:sp>
        <p:nvSpPr>
          <p:cNvPr id="25" name="Rectangle 24"/>
          <p:cNvSpPr/>
          <p:nvPr/>
        </p:nvSpPr>
        <p:spPr>
          <a:xfrm>
            <a:off x="7418527" y="295351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9111" y="304495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CAF_Control_Catalog__c  ·  CAF_Integration_Log__c</a:t>
            </a:r>
          </a:p>
        </p:txBody>
      </p:sp>
      <p:sp>
        <p:nvSpPr>
          <p:cNvPr id="27" name="Rectangle 26"/>
          <p:cNvSpPr/>
          <p:nvPr/>
        </p:nvSpPr>
        <p:spPr>
          <a:xfrm>
            <a:off x="7418527" y="350215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19111" y="359359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alibri"/>
              </a:rPr>
              <a:t>4 services  ·  4 screen controllers</a:t>
            </a:r>
          </a:p>
        </p:txBody>
      </p:sp>
      <p:sp>
        <p:nvSpPr>
          <p:cNvPr id="29" name="Rectangle 28"/>
          <p:cNvSpPr/>
          <p:nvPr/>
        </p:nvSpPr>
        <p:spPr>
          <a:xfrm>
            <a:off x="7418527" y="405079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19111" y="414223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onsolas"/>
              </a:rPr>
              <a:t>CafCallout  ·  CafConfig  ·  CAF_Setting__mdt</a:t>
            </a:r>
          </a:p>
        </p:txBody>
      </p:sp>
      <p:sp>
        <p:nvSpPr>
          <p:cNvPr id="31" name="Rectangle 30"/>
          <p:cNvSpPr/>
          <p:nvPr/>
        </p:nvSpPr>
        <p:spPr>
          <a:xfrm>
            <a:off x="7418527" y="4599431"/>
            <a:ext cx="3831336" cy="45720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19111" y="4690871"/>
            <a:ext cx="3630168" cy="292608"/>
          </a:xfrm>
          <a:prstGeom prst="rect">
            <a:avLst/>
          </a:prstGeom>
          <a:noFill/>
        </p:spPr>
        <p:txBody>
          <a:bodyPr wrap="square" lIns="0" rIns="0" tIns="0" bIns="0" anchor="ctr">
            <a:spAutoFit/>
          </a:bodyPr>
          <a:lstStyle/>
          <a:p>
            <a:pPr algn="ctr">
              <a:lnSpc>
                <a:spcPct val="114000"/>
              </a:lnSpc>
              <a:spcBef>
                <a:spcPts val="0"/>
              </a:spcBef>
              <a:spcAft>
                <a:spcPts val="0"/>
              </a:spcAft>
            </a:pPr>
            <a:r>
              <a:rPr sz="1050" b="0" i="0">
                <a:solidFill>
                  <a:srgbClr val="1A1A1A"/>
                </a:solidFill>
                <a:latin typeface="Calibri"/>
              </a:rPr>
              <a:t>Compliance · Approvals · Reports · Admin</a:t>
            </a:r>
          </a:p>
        </p:txBody>
      </p:sp>
      <p:sp>
        <p:nvSpPr>
          <p:cNvPr id="33" name="TextBox 32"/>
          <p:cNvSpPr txBox="1"/>
          <p:nvPr/>
        </p:nvSpPr>
        <p:spPr>
          <a:xfrm>
            <a:off x="4937760" y="2395728"/>
            <a:ext cx="2316175" cy="274320"/>
          </a:xfrm>
          <a:prstGeom prst="rect">
            <a:avLst/>
          </a:prstGeom>
          <a:noFill/>
        </p:spPr>
        <p:txBody>
          <a:bodyPr wrap="square" lIns="0" rIns="0" tIns="0" bIns="0">
            <a:spAutoFit/>
          </a:bodyPr>
          <a:lstStyle/>
          <a:p>
            <a:pPr algn="ctr">
              <a:lnSpc>
                <a:spcPct val="112000"/>
              </a:lnSpc>
              <a:spcBef>
                <a:spcPts val="0"/>
              </a:spcBef>
              <a:spcAft>
                <a:spcPts val="0"/>
              </a:spcAft>
            </a:pPr>
            <a:r>
              <a:rPr sz="1000" b="1" i="0">
                <a:solidFill>
                  <a:srgbClr val="000724"/>
                </a:solidFill>
                <a:latin typeface="Calibri"/>
              </a:rPr>
              <a:t>Outbound  ·  ServiceNow → Salesforce</a:t>
            </a:r>
          </a:p>
        </p:txBody>
      </p:sp>
      <p:sp>
        <p:nvSpPr>
          <p:cNvPr id="34" name="Right Arrow 33"/>
          <p:cNvSpPr/>
          <p:nvPr/>
        </p:nvSpPr>
        <p:spPr>
          <a:xfrm>
            <a:off x="5102352" y="2670048"/>
            <a:ext cx="1986991"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999232"/>
            <a:ext cx="2316175" cy="274320"/>
          </a:xfrm>
          <a:prstGeom prst="rect">
            <a:avLst/>
          </a:prstGeom>
          <a:noFill/>
        </p:spPr>
        <p:txBody>
          <a:bodyPr wrap="square" lIns="0" rIns="0" tIns="0" bIns="0">
            <a:spAutoFit/>
          </a:bodyPr>
          <a:lstStyle/>
          <a:p>
            <a:pPr algn="ctr">
              <a:lnSpc>
                <a:spcPct val="112000"/>
              </a:lnSpc>
              <a:spcBef>
                <a:spcPts val="0"/>
              </a:spcBef>
              <a:spcAft>
                <a:spcPts val="0"/>
              </a:spcAft>
            </a:pPr>
            <a:r>
              <a:rPr sz="850" b="0" i="0">
                <a:solidFill>
                  <a:srgbClr val="606676"/>
                </a:solidFill>
                <a:latin typeface="Calibri"/>
              </a:rPr>
              <a:t>async business rules → OAuth client credentials → upsert on External Id</a:t>
            </a:r>
          </a:p>
        </p:txBody>
      </p:sp>
      <p:sp>
        <p:nvSpPr>
          <p:cNvPr id="36" name="TextBox 35"/>
          <p:cNvSpPr txBox="1"/>
          <p:nvPr/>
        </p:nvSpPr>
        <p:spPr>
          <a:xfrm>
            <a:off x="4937760" y="3767328"/>
            <a:ext cx="2316175" cy="274320"/>
          </a:xfrm>
          <a:prstGeom prst="rect">
            <a:avLst/>
          </a:prstGeom>
          <a:noFill/>
        </p:spPr>
        <p:txBody>
          <a:bodyPr wrap="square" lIns="0" rIns="0" tIns="0" bIns="0">
            <a:spAutoFit/>
          </a:bodyPr>
          <a:lstStyle/>
          <a:p>
            <a:pPr algn="ctr">
              <a:lnSpc>
                <a:spcPct val="112000"/>
              </a:lnSpc>
              <a:spcBef>
                <a:spcPts val="0"/>
              </a:spcBef>
              <a:spcAft>
                <a:spcPts val="0"/>
              </a:spcAft>
            </a:pPr>
            <a:r>
              <a:rPr sz="1000" b="1" i="0">
                <a:solidFill>
                  <a:srgbClr val="0A3176"/>
                </a:solidFill>
                <a:latin typeface="Calibri"/>
              </a:rPr>
              <a:t>Inbound  ·  Salesforce → ServiceNow</a:t>
            </a:r>
          </a:p>
        </p:txBody>
      </p:sp>
      <p:sp>
        <p:nvSpPr>
          <p:cNvPr id="37" name="Right Arrow 36"/>
          <p:cNvSpPr/>
          <p:nvPr/>
        </p:nvSpPr>
        <p:spPr>
          <a:xfrm rot="10800000">
            <a:off x="5102352" y="4041648"/>
            <a:ext cx="1986991" cy="274320"/>
          </a:xfrm>
          <a:prstGeom prst="rightArrow">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4370832"/>
            <a:ext cx="2316175" cy="274320"/>
          </a:xfrm>
          <a:prstGeom prst="rect">
            <a:avLst/>
          </a:prstGeom>
          <a:noFill/>
        </p:spPr>
        <p:txBody>
          <a:bodyPr wrap="square" lIns="0" rIns="0" tIns="0" bIns="0">
            <a:spAutoFit/>
          </a:bodyPr>
          <a:lstStyle/>
          <a:p>
            <a:pPr algn="ctr">
              <a:lnSpc>
                <a:spcPct val="112000"/>
              </a:lnSpc>
              <a:spcBef>
                <a:spcPts val="0"/>
              </a:spcBef>
              <a:spcAft>
                <a:spcPts val="0"/>
              </a:spcAft>
            </a:pPr>
            <a:r>
              <a:rPr sz="850" b="0" i="0">
                <a:solidFill>
                  <a:srgbClr val="606676"/>
                </a:solidFill>
                <a:latin typeface="Calibri"/>
              </a:rPr>
              <a:t>Apex → named credential, basic auth as sf.integration → Scripted REST</a:t>
            </a:r>
          </a:p>
        </p:txBody>
      </p:sp>
      <p:sp>
        <p:nvSpPr>
          <p:cNvPr id="39" name="Rectangle 38"/>
          <p:cNvSpPr/>
          <p:nvPr/>
        </p:nvSpPr>
        <p:spPr>
          <a:xfrm>
            <a:off x="777240" y="5431536"/>
            <a:ext cx="10637215" cy="74980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431536"/>
            <a:ext cx="44450" cy="749808"/>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3272" y="5559552"/>
            <a:ext cx="10180015" cy="566928"/>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Nothing is shared, replicated at the database level, or read through. Every crossing is an explicit HTTP call with its own credential, which is what makes each direction separately testable and separately disableable.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Salesforce surface — one tab, four screens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Each screen is its own LWC over its own Apex read model, mounted only while it is selected.</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01952"/>
            <a:ext cx="2556433" cy="2286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01952"/>
            <a:ext cx="2556433" cy="4445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084831"/>
            <a:ext cx="2282113" cy="32004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Compliance</a:t>
            </a:r>
          </a:p>
        </p:txBody>
      </p:sp>
      <p:sp>
        <p:nvSpPr>
          <p:cNvPr id="10" name="TextBox 9"/>
          <p:cNvSpPr txBox="1"/>
          <p:nvPr/>
        </p:nvSpPr>
        <p:spPr>
          <a:xfrm>
            <a:off x="941832" y="2468880"/>
            <a:ext cx="2282113" cy="457200"/>
          </a:xfrm>
          <a:prstGeom prst="rect">
            <a:avLst/>
          </a:prstGeom>
          <a:noFill/>
        </p:spPr>
        <p:txBody>
          <a:bodyPr wrap="square" lIns="0" rIns="0" tIns="0" bIns="0">
            <a:spAutoFit/>
          </a:bodyPr>
          <a:lstStyle/>
          <a:p>
            <a:pPr algn="l">
              <a:lnSpc>
                <a:spcPct val="115000"/>
              </a:lnSpc>
              <a:spcBef>
                <a:spcPts val="0"/>
              </a:spcBef>
              <a:spcAft>
                <a:spcPts val="0"/>
              </a:spcAft>
            </a:pPr>
            <a:r>
              <a:rPr sz="950" b="0" i="0">
                <a:solidFill>
                  <a:srgbClr val="0A3176"/>
                </a:solidFill>
                <a:latin typeface="Consolas"/>
              </a:rPr>
              <a:t>cafDashboard
CafDashboardController</a:t>
            </a:r>
          </a:p>
        </p:txBody>
      </p:sp>
      <p:sp>
        <p:nvSpPr>
          <p:cNvPr id="11" name="TextBox 10"/>
          <p:cNvSpPr txBox="1"/>
          <p:nvPr/>
        </p:nvSpPr>
        <p:spPr>
          <a:xfrm>
            <a:off x="941832" y="3017520"/>
            <a:ext cx="2282113" cy="10972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Applications × controls grid, search, sort, overdue rings, drill-in to tasks, Sync Health strip</a:t>
            </a:r>
          </a:p>
        </p:txBody>
      </p:sp>
      <p:sp>
        <p:nvSpPr>
          <p:cNvPr id="12" name="Rectangle 11"/>
          <p:cNvSpPr/>
          <p:nvPr/>
        </p:nvSpPr>
        <p:spPr>
          <a:xfrm>
            <a:off x="3470833" y="1901952"/>
            <a:ext cx="2556433" cy="2286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0833" y="1901952"/>
            <a:ext cx="2556433" cy="4445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5425" y="2084831"/>
            <a:ext cx="2282113" cy="32004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Approvals</a:t>
            </a:r>
          </a:p>
        </p:txBody>
      </p:sp>
      <p:sp>
        <p:nvSpPr>
          <p:cNvPr id="15" name="TextBox 14"/>
          <p:cNvSpPr txBox="1"/>
          <p:nvPr/>
        </p:nvSpPr>
        <p:spPr>
          <a:xfrm>
            <a:off x="3635425" y="2468880"/>
            <a:ext cx="2282113" cy="457200"/>
          </a:xfrm>
          <a:prstGeom prst="rect">
            <a:avLst/>
          </a:prstGeom>
          <a:noFill/>
        </p:spPr>
        <p:txBody>
          <a:bodyPr wrap="square" lIns="0" rIns="0" tIns="0" bIns="0">
            <a:spAutoFit/>
          </a:bodyPr>
          <a:lstStyle/>
          <a:p>
            <a:pPr algn="l">
              <a:lnSpc>
                <a:spcPct val="115000"/>
              </a:lnSpc>
              <a:spcBef>
                <a:spcPts val="0"/>
              </a:spcBef>
              <a:spcAft>
                <a:spcPts val="0"/>
              </a:spcAft>
            </a:pPr>
            <a:r>
              <a:rPr sz="950" b="0" i="0">
                <a:solidFill>
                  <a:srgbClr val="0A3176"/>
                </a:solidFill>
                <a:latin typeface="Consolas"/>
              </a:rPr>
              <a:t>cafApprovals
CafApprovalsController</a:t>
            </a:r>
          </a:p>
        </p:txBody>
      </p:sp>
      <p:sp>
        <p:nvSpPr>
          <p:cNvPr id="16" name="TextBox 15"/>
          <p:cNvSpPr txBox="1"/>
          <p:nvPr/>
        </p:nvSpPr>
        <p:spPr>
          <a:xfrm>
            <a:off x="3635425" y="3017520"/>
            <a:ext cx="2282113" cy="10972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Every In Progress task with due-date flags. Review opens evidence read-only beside the attestation</a:t>
            </a:r>
          </a:p>
        </p:txBody>
      </p:sp>
      <p:sp>
        <p:nvSpPr>
          <p:cNvPr id="17" name="Rectangle 16"/>
          <p:cNvSpPr/>
          <p:nvPr/>
        </p:nvSpPr>
        <p:spPr>
          <a:xfrm>
            <a:off x="6164427" y="1901952"/>
            <a:ext cx="2556433" cy="2286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4427" y="1901952"/>
            <a:ext cx="2556433" cy="4445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9019" y="2084831"/>
            <a:ext cx="2282113" cy="32004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Reports</a:t>
            </a:r>
          </a:p>
        </p:txBody>
      </p:sp>
      <p:sp>
        <p:nvSpPr>
          <p:cNvPr id="20" name="TextBox 19"/>
          <p:cNvSpPr txBox="1"/>
          <p:nvPr/>
        </p:nvSpPr>
        <p:spPr>
          <a:xfrm>
            <a:off x="6329019" y="2468880"/>
            <a:ext cx="2282113" cy="457200"/>
          </a:xfrm>
          <a:prstGeom prst="rect">
            <a:avLst/>
          </a:prstGeom>
          <a:noFill/>
        </p:spPr>
        <p:txBody>
          <a:bodyPr wrap="square" lIns="0" rIns="0" tIns="0" bIns="0">
            <a:spAutoFit/>
          </a:bodyPr>
          <a:lstStyle/>
          <a:p>
            <a:pPr algn="l">
              <a:lnSpc>
                <a:spcPct val="115000"/>
              </a:lnSpc>
              <a:spcBef>
                <a:spcPts val="0"/>
              </a:spcBef>
              <a:spcAft>
                <a:spcPts val="0"/>
              </a:spcAft>
            </a:pPr>
            <a:r>
              <a:rPr sz="950" b="0" i="0">
                <a:solidFill>
                  <a:srgbClr val="0A3176"/>
                </a:solidFill>
                <a:latin typeface="Consolas"/>
              </a:rPr>
              <a:t>cafReports
CafReportsController</a:t>
            </a:r>
          </a:p>
        </p:txBody>
      </p:sp>
      <p:sp>
        <p:nvSpPr>
          <p:cNvPr id="21" name="TextBox 20"/>
          <p:cNvSpPr txBox="1"/>
          <p:nvPr/>
        </p:nvSpPr>
        <p:spPr>
          <a:xfrm>
            <a:off x="6329019" y="3017520"/>
            <a:ext cx="2282113" cy="10972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Headline figures, status per control, least-compliant applications, overdue requests, CSV export</a:t>
            </a:r>
          </a:p>
        </p:txBody>
      </p:sp>
      <p:sp>
        <p:nvSpPr>
          <p:cNvPr id="22" name="Rectangle 21"/>
          <p:cNvSpPr/>
          <p:nvPr/>
        </p:nvSpPr>
        <p:spPr>
          <a:xfrm>
            <a:off x="8858021" y="1901952"/>
            <a:ext cx="2556433" cy="2286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58021" y="1901952"/>
            <a:ext cx="2556433" cy="4445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22613" y="2084831"/>
            <a:ext cx="2282113" cy="32004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Admin</a:t>
            </a:r>
          </a:p>
        </p:txBody>
      </p:sp>
      <p:sp>
        <p:nvSpPr>
          <p:cNvPr id="25" name="TextBox 24"/>
          <p:cNvSpPr txBox="1"/>
          <p:nvPr/>
        </p:nvSpPr>
        <p:spPr>
          <a:xfrm>
            <a:off x="9022613" y="2468880"/>
            <a:ext cx="2282113" cy="457200"/>
          </a:xfrm>
          <a:prstGeom prst="rect">
            <a:avLst/>
          </a:prstGeom>
          <a:noFill/>
        </p:spPr>
        <p:txBody>
          <a:bodyPr wrap="square" lIns="0" rIns="0" tIns="0" bIns="0">
            <a:spAutoFit/>
          </a:bodyPr>
          <a:lstStyle/>
          <a:p>
            <a:pPr algn="l">
              <a:lnSpc>
                <a:spcPct val="115000"/>
              </a:lnSpc>
              <a:spcBef>
                <a:spcPts val="0"/>
              </a:spcBef>
              <a:spcAft>
                <a:spcPts val="0"/>
              </a:spcAft>
            </a:pPr>
            <a:r>
              <a:rPr sz="950" b="0" i="0">
                <a:solidFill>
                  <a:srgbClr val="0A3176"/>
                </a:solidFill>
                <a:latin typeface="Consolas"/>
              </a:rPr>
              <a:t>cafAdmin
CafAdminController</a:t>
            </a:r>
          </a:p>
        </p:txBody>
      </p:sp>
      <p:sp>
        <p:nvSpPr>
          <p:cNvPr id="26" name="TextBox 25"/>
          <p:cNvSpPr txBox="1"/>
          <p:nvPr/>
        </p:nvSpPr>
        <p:spPr>
          <a:xfrm>
            <a:off x="9022613" y="3017520"/>
            <a:ext cx="2282113" cy="10972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Read-only: callout log with success rate and latency, the control catalogue, live CAF Settings</a:t>
            </a:r>
          </a:p>
        </p:txBody>
      </p:sp>
      <p:sp>
        <p:nvSpPr>
          <p:cNvPr id="27" name="TextBox 26"/>
          <p:cNvSpPr txBox="1"/>
          <p:nvPr/>
        </p:nvSpPr>
        <p:spPr>
          <a:xfrm>
            <a:off x="777240" y="4407408"/>
            <a:ext cx="10637215" cy="1536192"/>
          </a:xfrm>
          <a:prstGeom prst="rect">
            <a:avLst/>
          </a:prstGeom>
          <a:noFill/>
        </p:spPr>
        <p:txBody>
          <a:bodyPr wrap="square" lIns="0" rIns="0" tIns="0" bIns="0">
            <a:spAutoFit/>
          </a:bodyPr>
          <a:lstStyle/>
          <a:p>
            <a:pPr>
              <a:lnSpc>
                <a:spcPct val="122000"/>
              </a:lnSpc>
              <a:spcAft>
                <a:spcPts val="800"/>
              </a:spcAft>
            </a:pPr>
            <a:r>
              <a:rPr sz="1250" b="1">
                <a:solidFill>
                  <a:srgbClr val="0A3176"/>
                </a:solidFill>
                <a:latin typeface="Calibri"/>
              </a:rPr>
              <a:t>Deep-linkable.  </a:t>
            </a:r>
            <a:r>
              <a:rPr sz="1250">
                <a:solidFill>
                  <a:srgbClr val="1A1A1A"/>
                </a:solidFill>
                <a:latin typeface="Calibri"/>
              </a:rPr>
              <a:t>?c__view=approvals | reports | admin on /lightning/n/CAF_Dashboard opens the tab on that screen.</a:t>
            </a:r>
          </a:p>
          <a:p>
            <a:pPr>
              <a:lnSpc>
                <a:spcPct val="122000"/>
              </a:lnSpc>
              <a:spcAft>
                <a:spcPts val="800"/>
              </a:spcAft>
            </a:pPr>
            <a:r>
              <a:rPr sz="1250" b="1">
                <a:solidFill>
                  <a:srgbClr val="0A3176"/>
                </a:solidFill>
                <a:latin typeface="Calibri"/>
              </a:rPr>
              <a:t>Shared, not copied.  </a:t>
            </a:r>
            <a:r>
              <a:rPr sz="1250">
                <a:solidFill>
                  <a:srgbClr val="1A1A1A"/>
                </a:solidFill>
                <a:latin typeface="Calibri"/>
              </a:rPr>
              <a:t>cafTheme is a CSS-only module and cafCsv a shared export helper, so the four screens cannot drift apart in look or in what an export contains.</a:t>
            </a:r>
          </a:p>
          <a:p>
            <a:pPr>
              <a:lnSpc>
                <a:spcPct val="122000"/>
              </a:lnSpc>
              <a:spcAft>
                <a:spcPts val="800"/>
              </a:spcAft>
            </a:pPr>
            <a:r>
              <a:rPr sz="1250" b="1">
                <a:solidFill>
                  <a:srgbClr val="0A3176"/>
                </a:solidFill>
                <a:latin typeface="Calibri"/>
              </a:rPr>
              <a:t>Columns come from the catalogue on every screen.  </a:t>
            </a:r>
            <a:r>
              <a:rPr sz="1250">
                <a:solidFill>
                  <a:srgbClr val="1A1A1A"/>
                </a:solidFill>
                <a:latin typeface="Calibri"/>
              </a:rPr>
              <a:t>Reports uses the grid's own Overall rule, so a figure on one screen never disagrees with another.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Correlation, and why replay is safe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ServiceNow sys_id is the only join key, and it travels in one direction only.</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TextBox 6"/>
          <p:cNvSpPr txBox="1"/>
          <p:nvPr/>
        </p:nvSpPr>
        <p:spPr>
          <a:xfrm>
            <a:off x="777240" y="1865376"/>
            <a:ext cx="10637215" cy="4078224"/>
          </a:xfrm>
          <a:prstGeom prst="rect">
            <a:avLst/>
          </a:prstGeom>
          <a:noFill/>
        </p:spPr>
        <p:txBody>
          <a:bodyPr wrap="square" lIns="0" rIns="0" tIns="0" bIns="0">
            <a:spAutoFit/>
          </a:bodyPr>
          <a:lstStyle/>
          <a:p>
            <a:pPr>
              <a:lnSpc>
                <a:spcPct val="122000"/>
              </a:lnSpc>
              <a:spcAft>
                <a:spcPts val="1000"/>
              </a:spcAft>
            </a:pPr>
            <a:r>
              <a:rPr sz="1300" b="1">
                <a:solidFill>
                  <a:srgbClr val="0A3176"/>
                </a:solidFill>
                <a:latin typeface="Calibri"/>
              </a:rPr>
              <a:t>Every write is an upsert on an External Id.  </a:t>
            </a:r>
            <a:r>
              <a:rPr sz="1300">
                <a:solidFill>
                  <a:srgbClr val="1A1A1A"/>
                </a:solidFill>
                <a:latin typeface="Calibri"/>
              </a:rPr>
              <a:t>The ServiceNow sys_id is stored in ServiceNow_Sys_Id__c on each Salesforce object, and every push upserts against it. A push that fails can simply be sent again — there is no create-or-update decision to get wrong, and no duplicate to clean up.</a:t>
            </a:r>
          </a:p>
          <a:p>
            <a:pPr>
              <a:lnSpc>
                <a:spcPct val="122000"/>
              </a:lnSpc>
              <a:spcAft>
                <a:spcPts val="1000"/>
              </a:spcAft>
            </a:pPr>
            <a:r>
              <a:rPr sz="1300" b="1">
                <a:solidFill>
                  <a:srgbClr val="0A3176"/>
                </a:solidFill>
                <a:latin typeface="Calibri"/>
              </a:rPr>
              <a:t>No Salesforce Id is ever stored in ServiceNow.  </a:t>
            </a:r>
            <a:r>
              <a:rPr sz="1300">
                <a:solidFill>
                  <a:srgbClr val="1A1A1A"/>
                </a:solidFill>
                <a:latin typeface="Calibri"/>
              </a:rPr>
              <a:t>Correlation is one-directional, which is what makes a Salesforce org rebuild survivable: reload the objects, re-push, and the mirror reassembles itself. The reverse would strand every ServiceNow record against Ids that no longer exist.</a:t>
            </a:r>
          </a:p>
          <a:p>
            <a:pPr>
              <a:lnSpc>
                <a:spcPct val="122000"/>
              </a:lnSpc>
              <a:spcAft>
                <a:spcPts val="1000"/>
              </a:spcAft>
            </a:pPr>
            <a:r>
              <a:rPr sz="1300" b="1">
                <a:solidFill>
                  <a:srgbClr val="0A3176"/>
                </a:solidFill>
                <a:latin typeface="Calibri"/>
              </a:rPr>
              <a:t>The control name is not a join key.  </a:t>
            </a:r>
            <a:r>
              <a:rPr sz="1300">
                <a:solidFill>
                  <a:srgbClr val="1A1A1A"/>
                </a:solidFill>
                <a:latin typeface="Calibri"/>
              </a:rPr>
              <a:t>CAF_Request__c.CAF_Control__c holds the name as it stood at the last push, so renaming a control strands the old label on every mirrored request. CAF_Control_Sys_Id__c was added for this; the grid joins on it and falls back to the name only for records pushed before the field existed.</a:t>
            </a:r>
          </a:p>
        </p:txBody>
      </p:sp>
      <p:sp>
        <p:nvSpPr>
          <p:cNvPr id="8" name="Rectangle 7"/>
          <p:cNvSpPr/>
          <p:nvPr/>
        </p:nvSpPr>
        <p:spPr>
          <a:xfrm>
            <a:off x="777240" y="5358384"/>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58384"/>
            <a:ext cx="44450" cy="713232"/>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5486400"/>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Idempotency here is a property of the key, not of retry logic. That is deliberate — retry logic is a thing that can be wrong, and an External Id cannot.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Outbound — ServiceNow to Salesforce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Async business rules call one script include, which requests its own token and upserts.</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38528"/>
            <a:ext cx="10637215"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029968"/>
            <a:ext cx="301752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Business rule</a:t>
            </a:r>
          </a:p>
        </p:txBody>
      </p:sp>
      <p:sp>
        <p:nvSpPr>
          <p:cNvPr id="9" name="TextBox 8"/>
          <p:cNvSpPr txBox="1"/>
          <p:nvPr/>
        </p:nvSpPr>
        <p:spPr>
          <a:xfrm>
            <a:off x="4105656" y="2029968"/>
            <a:ext cx="118872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When</a:t>
            </a:r>
          </a:p>
        </p:txBody>
      </p:sp>
      <p:sp>
        <p:nvSpPr>
          <p:cNvPr id="10" name="TextBox 9"/>
          <p:cNvSpPr txBox="1"/>
          <p:nvPr/>
        </p:nvSpPr>
        <p:spPr>
          <a:xfrm>
            <a:off x="5477256" y="2029968"/>
            <a:ext cx="118872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Fires on</a:t>
            </a:r>
          </a:p>
        </p:txBody>
      </p:sp>
      <p:sp>
        <p:nvSpPr>
          <p:cNvPr id="11" name="TextBox 10"/>
          <p:cNvSpPr txBox="1"/>
          <p:nvPr/>
        </p:nvSpPr>
        <p:spPr>
          <a:xfrm>
            <a:off x="6848856" y="2029968"/>
            <a:ext cx="4510735"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Effect in Salesforce</a:t>
            </a:r>
          </a:p>
        </p:txBody>
      </p:sp>
      <p:sp>
        <p:nvSpPr>
          <p:cNvPr id="12" name="Rectangle 11"/>
          <p:cNvSpPr/>
          <p:nvPr/>
        </p:nvSpPr>
        <p:spPr>
          <a:xfrm>
            <a:off x="777240" y="2304288"/>
            <a:ext cx="10637215" cy="47548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304288"/>
            <a:ext cx="29809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 - Push Request to Salesforce</a:t>
            </a:r>
          </a:p>
        </p:txBody>
      </p:sp>
      <p:sp>
        <p:nvSpPr>
          <p:cNvPr id="14" name="TextBox 13"/>
          <p:cNvSpPr txBox="1"/>
          <p:nvPr/>
        </p:nvSpPr>
        <p:spPr>
          <a:xfrm>
            <a:off x="4105656" y="2304288"/>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async</a:t>
            </a:r>
          </a:p>
        </p:txBody>
      </p:sp>
      <p:sp>
        <p:nvSpPr>
          <p:cNvPr id="15" name="TextBox 14"/>
          <p:cNvSpPr txBox="1"/>
          <p:nvPr/>
        </p:nvSpPr>
        <p:spPr>
          <a:xfrm>
            <a:off x="5477256" y="2304288"/>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insert, update</a:t>
            </a:r>
          </a:p>
        </p:txBody>
      </p:sp>
      <p:sp>
        <p:nvSpPr>
          <p:cNvPr id="16" name="TextBox 15"/>
          <p:cNvSpPr txBox="1"/>
          <p:nvPr/>
        </p:nvSpPr>
        <p:spPr>
          <a:xfrm>
            <a:off x="6848856" y="2304288"/>
            <a:ext cx="4474159"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upsert CAF_Request__c</a:t>
            </a:r>
          </a:p>
        </p:txBody>
      </p:sp>
      <p:sp>
        <p:nvSpPr>
          <p:cNvPr id="17" name="Rectangle 16"/>
          <p:cNvSpPr/>
          <p:nvPr/>
        </p:nvSpPr>
        <p:spPr>
          <a:xfrm>
            <a:off x="777240" y="2779776"/>
            <a:ext cx="10637215" cy="47548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779776"/>
            <a:ext cx="29809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 - Push Task to Salesforce</a:t>
            </a:r>
          </a:p>
        </p:txBody>
      </p:sp>
      <p:sp>
        <p:nvSpPr>
          <p:cNvPr id="19" name="TextBox 18"/>
          <p:cNvSpPr txBox="1"/>
          <p:nvPr/>
        </p:nvSpPr>
        <p:spPr>
          <a:xfrm>
            <a:off x="4105656" y="2779776"/>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async</a:t>
            </a:r>
          </a:p>
        </p:txBody>
      </p:sp>
      <p:sp>
        <p:nvSpPr>
          <p:cNvPr id="20" name="TextBox 19"/>
          <p:cNvSpPr txBox="1"/>
          <p:nvPr/>
        </p:nvSpPr>
        <p:spPr>
          <a:xfrm>
            <a:off x="5477256" y="2779776"/>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insert, update</a:t>
            </a:r>
          </a:p>
        </p:txBody>
      </p:sp>
      <p:sp>
        <p:nvSpPr>
          <p:cNvPr id="21" name="TextBox 20"/>
          <p:cNvSpPr txBox="1"/>
          <p:nvPr/>
        </p:nvSpPr>
        <p:spPr>
          <a:xfrm>
            <a:off x="6848856" y="2779776"/>
            <a:ext cx="4474159"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upsert CAF_Task__c</a:t>
            </a:r>
          </a:p>
        </p:txBody>
      </p:sp>
      <p:sp>
        <p:nvSpPr>
          <p:cNvPr id="22" name="Rectangle 21"/>
          <p:cNvSpPr/>
          <p:nvPr/>
        </p:nvSpPr>
        <p:spPr>
          <a:xfrm>
            <a:off x="777240" y="3255264"/>
            <a:ext cx="10637215" cy="47548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 y="3255264"/>
            <a:ext cx="29809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 - Push Control to Salesforce</a:t>
            </a:r>
          </a:p>
        </p:txBody>
      </p:sp>
      <p:sp>
        <p:nvSpPr>
          <p:cNvPr id="24" name="TextBox 23"/>
          <p:cNvSpPr txBox="1"/>
          <p:nvPr/>
        </p:nvSpPr>
        <p:spPr>
          <a:xfrm>
            <a:off x="4105656" y="3255264"/>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async</a:t>
            </a:r>
          </a:p>
        </p:txBody>
      </p:sp>
      <p:sp>
        <p:nvSpPr>
          <p:cNvPr id="25" name="TextBox 24"/>
          <p:cNvSpPr txBox="1"/>
          <p:nvPr/>
        </p:nvSpPr>
        <p:spPr>
          <a:xfrm>
            <a:off x="5477256" y="3255264"/>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insert, update</a:t>
            </a:r>
          </a:p>
        </p:txBody>
      </p:sp>
      <p:sp>
        <p:nvSpPr>
          <p:cNvPr id="26" name="TextBox 25"/>
          <p:cNvSpPr txBox="1"/>
          <p:nvPr/>
        </p:nvSpPr>
        <p:spPr>
          <a:xfrm>
            <a:off x="6848856" y="3255264"/>
            <a:ext cx="4474159"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upsert CAF_Control_Catalog__c</a:t>
            </a:r>
          </a:p>
        </p:txBody>
      </p:sp>
      <p:sp>
        <p:nvSpPr>
          <p:cNvPr id="27" name="Rectangle 26"/>
          <p:cNvSpPr/>
          <p:nvPr/>
        </p:nvSpPr>
        <p:spPr>
          <a:xfrm>
            <a:off x="777240" y="3730752"/>
            <a:ext cx="10637215" cy="47548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730752"/>
            <a:ext cx="29809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 - Retire Control in Salesforce</a:t>
            </a:r>
          </a:p>
        </p:txBody>
      </p:sp>
      <p:sp>
        <p:nvSpPr>
          <p:cNvPr id="29" name="TextBox 28"/>
          <p:cNvSpPr txBox="1"/>
          <p:nvPr/>
        </p:nvSpPr>
        <p:spPr>
          <a:xfrm>
            <a:off x="4105656" y="3730752"/>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A81845"/>
                </a:solidFill>
                <a:latin typeface="Calibri"/>
              </a:rPr>
              <a:t>after</a:t>
            </a:r>
          </a:p>
        </p:txBody>
      </p:sp>
      <p:sp>
        <p:nvSpPr>
          <p:cNvPr id="30" name="TextBox 29"/>
          <p:cNvSpPr txBox="1"/>
          <p:nvPr/>
        </p:nvSpPr>
        <p:spPr>
          <a:xfrm>
            <a:off x="5477256" y="3730752"/>
            <a:ext cx="1152144"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A81845"/>
                </a:solidFill>
                <a:latin typeface="Calibri"/>
              </a:rPr>
              <a:t>delete</a:t>
            </a:r>
          </a:p>
        </p:txBody>
      </p:sp>
      <p:sp>
        <p:nvSpPr>
          <p:cNvPr id="31" name="TextBox 30"/>
          <p:cNvSpPr txBox="1"/>
          <p:nvPr/>
        </p:nvSpPr>
        <p:spPr>
          <a:xfrm>
            <a:off x="6848856" y="3730752"/>
            <a:ext cx="4474159" cy="475488"/>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A81845"/>
                </a:solidFill>
                <a:latin typeface="Calibri"/>
              </a:rPr>
              <a:t>same upsert with Active__c = false</a:t>
            </a:r>
          </a:p>
        </p:txBody>
      </p:sp>
      <p:sp>
        <p:nvSpPr>
          <p:cNvPr id="32" name="TextBox 31"/>
          <p:cNvSpPr txBox="1"/>
          <p:nvPr/>
        </p:nvSpPr>
        <p:spPr>
          <a:xfrm>
            <a:off x="777240" y="4224528"/>
            <a:ext cx="10637215" cy="1719072"/>
          </a:xfrm>
          <a:prstGeom prst="rect">
            <a:avLst/>
          </a:prstGeom>
          <a:noFill/>
        </p:spPr>
        <p:txBody>
          <a:bodyPr wrap="square" lIns="0" rIns="0" tIns="0" bIns="0">
            <a:spAutoFit/>
          </a:bodyPr>
          <a:lstStyle/>
          <a:p>
            <a:pPr>
              <a:lnSpc>
                <a:spcPct val="122000"/>
              </a:lnSpc>
              <a:spcAft>
                <a:spcPts val="900"/>
              </a:spcAft>
            </a:pPr>
            <a:r>
              <a:rPr sz="1250" b="1">
                <a:solidFill>
                  <a:srgbClr val="0A3176"/>
                </a:solidFill>
                <a:latin typeface="Calibri"/>
              </a:rPr>
              <a:t>The retire rule is synchronous on purpose — the one departure from the pattern.  </a:t>
            </a:r>
            <a:r>
              <a:rPr sz="1250">
                <a:solidFill>
                  <a:srgbClr val="1A1A1A"/>
                </a:solidFill>
                <a:latin typeface="Calibri"/>
              </a:rPr>
              <a:t>An async rule runs after the transaction commits, by which point the record is gone and the sys_id it needs as the upsert key is exactly what is no longer there. An after-delete rule still holds the deleted values. The usual objection — a slow Salesforce hanging the save — is weak here: deleting a control is a rare admin action, and the push never throws.</a:t>
            </a:r>
          </a:p>
          <a:p>
            <a:pPr>
              <a:lnSpc>
                <a:spcPct val="122000"/>
              </a:lnSpc>
              <a:spcAft>
                <a:spcPts val="900"/>
              </a:spcAft>
            </a:pPr>
            <a:r>
              <a:rPr sz="1250" b="1">
                <a:solidFill>
                  <a:srgbClr val="0A3176"/>
                </a:solidFill>
                <a:latin typeface="Calibri"/>
              </a:rPr>
              <a:t>Client Credentials, not JWT bearer.  </a:t>
            </a:r>
            <a:r>
              <a:rPr sz="1250">
                <a:solidFill>
                  <a:srgbClr val="1A1A1A"/>
                </a:solidFill>
                <a:latin typeface="Calibri"/>
              </a:rPr>
              <a:t>ServiceNow's jwt_provider table has no fields for iss, sub or aud, which Salesforce requires, so JWT needs a custom JWT API Script. JWT remains the better production answer and is recorded as a deviation, not as a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echo-loop guard, and why it is not enough on its own</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hardest-won fix in this integration. It looks removable and is not.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65376"/>
            <a:ext cx="5135727" cy="365760"/>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47672"/>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The guard alone — measured failure</a:t>
            </a:r>
          </a:p>
        </p:txBody>
      </p:sp>
      <p:sp>
        <p:nvSpPr>
          <p:cNvPr id="9" name="TextBox 8"/>
          <p:cNvSpPr txBox="1"/>
          <p:nvPr/>
        </p:nvSpPr>
        <p:spPr>
          <a:xfrm>
            <a:off x="960120" y="2377440"/>
            <a:ext cx="4788255" cy="2286000"/>
          </a:xfrm>
          <a:prstGeom prst="rect">
            <a:avLst/>
          </a:prstGeom>
          <a:noFill/>
        </p:spPr>
        <p:txBody>
          <a:bodyPr wrap="square" lIns="0" rIns="0" tIns="0" bIns="0">
            <a:spAutoFit/>
          </a:bodyPr>
          <a:lstStyle/>
          <a:p>
            <a:pPr marL="155448" indent="-155448">
              <a:lnSpc>
                <a:spcPct val="118000"/>
              </a:lnSpc>
              <a:spcAft>
                <a:spcPts val="900"/>
              </a:spcAft>
            </a:pPr>
            <a:r>
              <a:rPr sz="1150">
                <a:solidFill>
                  <a:srgbClr val="1A1A1A"/>
                </a:solidFill>
                <a:latin typeface="Calibri"/>
              </a:rPr>
              <a:t>·  Outbound rules skip anything sf.integration wrote, which stops a Salesforce update bouncing back.</a:t>
            </a:r>
          </a:p>
          <a:p>
            <a:pPr marL="155448" indent="-155448">
              <a:lnSpc>
                <a:spcPct val="118000"/>
              </a:lnSpc>
              <a:spcAft>
                <a:spcPts val="900"/>
              </a:spcAft>
            </a:pPr>
            <a:r>
              <a:rPr sz="1150">
                <a:solidFill>
                  <a:srgbClr val="1A1A1A"/>
                </a:solidFill>
                <a:latin typeface="Calibri"/>
              </a:rPr>
              <a:t>·  But cascading rules run in the same transaction and carry the same user, so they are skipped too.</a:t>
            </a:r>
          </a:p>
          <a:p>
            <a:pPr marL="155448" indent="-155448">
              <a:lnSpc>
                <a:spcPct val="118000"/>
              </a:lnSpc>
              <a:spcAft>
                <a:spcPts val="900"/>
              </a:spcAft>
            </a:pPr>
            <a:r>
              <a:rPr sz="1150">
                <a:solidFill>
                  <a:srgbClr val="1A1A1A"/>
                </a:solidFill>
                <a:latin typeface="Calibri"/>
              </a:rPr>
              <a:t>·  A task moved to In Progress moved its parent request in ServiceNow while Salesforce still read Open.</a:t>
            </a:r>
          </a:p>
          <a:p>
            <a:pPr marL="155448" indent="-155448">
              <a:lnSpc>
                <a:spcPct val="118000"/>
              </a:lnSpc>
              <a:spcAft>
                <a:spcPts val="900"/>
              </a:spcAft>
            </a:pPr>
            <a:r>
              <a:rPr sz="1150">
                <a:solidFill>
                  <a:srgbClr val="1A1A1A"/>
                </a:solidFill>
                <a:latin typeface="Calibri"/>
              </a:rPr>
              <a:t>·  No push was logged for either record. Silent, and invisible to both user interfaces.</a:t>
            </a:r>
          </a:p>
        </p:txBody>
      </p:sp>
      <p:sp>
        <p:nvSpPr>
          <p:cNvPr id="10" name="Rectangle 9"/>
          <p:cNvSpPr/>
          <p:nvPr/>
        </p:nvSpPr>
        <p:spPr>
          <a:xfrm>
            <a:off x="6278727" y="1865376"/>
            <a:ext cx="5135727" cy="365760"/>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607" y="1947672"/>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The fix — reconcile explicitly</a:t>
            </a:r>
          </a:p>
        </p:txBody>
      </p:sp>
      <p:sp>
        <p:nvSpPr>
          <p:cNvPr id="12" name="TextBox 11"/>
          <p:cNvSpPr txBox="1"/>
          <p:nvPr/>
        </p:nvSpPr>
        <p:spPr>
          <a:xfrm>
            <a:off x="6461607" y="2377440"/>
            <a:ext cx="4788255" cy="2286000"/>
          </a:xfrm>
          <a:prstGeom prst="rect">
            <a:avLst/>
          </a:prstGeom>
          <a:noFill/>
        </p:spPr>
        <p:txBody>
          <a:bodyPr wrap="square" lIns="0" rIns="0" tIns="0" bIns="0">
            <a:spAutoFit/>
          </a:bodyPr>
          <a:lstStyle/>
          <a:p>
            <a:pPr marL="155448" indent="-155448">
              <a:lnSpc>
                <a:spcPct val="118000"/>
              </a:lnSpc>
              <a:spcAft>
                <a:spcPts val="900"/>
              </a:spcAft>
            </a:pPr>
            <a:r>
              <a:rPr sz="1150">
                <a:solidFill>
                  <a:srgbClr val="1A1A1A"/>
                </a:solidFill>
                <a:latin typeface="Calibri"/>
              </a:rPr>
              <a:t>·  Each inbound resource ends by pushing exactly two records: the task, and its parent request.</a:t>
            </a:r>
          </a:p>
          <a:p>
            <a:pPr marL="155448" indent="-155448">
              <a:lnSpc>
                <a:spcPct val="118000"/>
              </a:lnSpc>
              <a:spcAft>
                <a:spcPts val="900"/>
              </a:spcAft>
            </a:pPr>
            <a:r>
              <a:rPr sz="1150">
                <a:solidFill>
                  <a:srgbClr val="1A1A1A"/>
                </a:solidFill>
                <a:latin typeface="Calibri"/>
              </a:rPr>
              <a:t>·  Triggered by the request rather than by a record change, so no loop can form from it.</a:t>
            </a:r>
          </a:p>
          <a:p>
            <a:pPr marL="155448" indent="-155448">
              <a:lnSpc>
                <a:spcPct val="118000"/>
              </a:lnSpc>
              <a:spcAft>
                <a:spcPts val="900"/>
              </a:spcAft>
            </a:pPr>
            <a:r>
              <a:rPr sz="1150">
                <a:solidFill>
                  <a:srgbClr val="1A1A1A"/>
                </a:solidFill>
                <a:latin typeface="Calibri"/>
              </a:rPr>
              <a:t>·  Bounded and deliberate: two upserts, not a relaxed guard that would re-open the loop.</a:t>
            </a:r>
          </a:p>
          <a:p>
            <a:pPr marL="155448" indent="-155448">
              <a:lnSpc>
                <a:spcPct val="118000"/>
              </a:lnSpc>
              <a:spcAft>
                <a:spcPts val="900"/>
              </a:spcAft>
            </a:pPr>
            <a:r>
              <a:rPr sz="1150">
                <a:solidFill>
                  <a:srgbClr val="1A1A1A"/>
                </a:solidFill>
                <a:latin typeface="Calibri"/>
              </a:rPr>
              <a:t>·  Derived changes therefore reach the mirror even though the guard skipped them.</a:t>
            </a:r>
          </a:p>
        </p:txBody>
      </p:sp>
      <p:sp>
        <p:nvSpPr>
          <p:cNvPr id="13" name="Rectangle 12"/>
          <p:cNvSpPr/>
          <p:nvPr/>
        </p:nvSpPr>
        <p:spPr>
          <a:xfrm>
            <a:off x="777240" y="4590288"/>
            <a:ext cx="10637215" cy="8229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590288"/>
            <a:ext cx="44450" cy="822960"/>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718304"/>
            <a:ext cx="10180015" cy="640080"/>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Do not simplify this away. The reconcile reads like redundant work next to the guard, and removing it reintroduces a failure that no test notices unless it compares both platforms — which is why the test pack asserts on both sides of every state transition.</a:t>
            </a:r>
          </a:p>
        </p:txBody>
      </p:sp>
      <p:sp>
        <p:nvSpPr>
          <p:cNvPr id="16" name="Rectangle 15"/>
          <p:cNvSpPr/>
          <p:nvPr/>
        </p:nvSpPr>
        <p:spPr>
          <a:xfrm>
            <a:off x="777240" y="5504688"/>
            <a:ext cx="10637215" cy="694944"/>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504688"/>
            <a:ext cx="44450" cy="694944"/>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5632704"/>
            <a:ext cx="10180015" cy="512064"/>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The reconcile pushes the attested task and its parent — not a sibling task a flow spawns during the same transaction. That gap is known and untested.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Inbound — the API surface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Six resources, one credential, and an allow-list that refuses the whole call rather than part of it.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28800"/>
            <a:ext cx="10637215"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920240"/>
            <a:ext cx="429768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Resource</a:t>
            </a:r>
          </a:p>
        </p:txBody>
      </p:sp>
      <p:sp>
        <p:nvSpPr>
          <p:cNvPr id="9" name="TextBox 8"/>
          <p:cNvSpPr txBox="1"/>
          <p:nvPr/>
        </p:nvSpPr>
        <p:spPr>
          <a:xfrm>
            <a:off x="5385816" y="1920240"/>
            <a:ext cx="86868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Method</a:t>
            </a:r>
          </a:p>
        </p:txBody>
      </p:sp>
      <p:sp>
        <p:nvSpPr>
          <p:cNvPr id="10" name="TextBox 9"/>
          <p:cNvSpPr txBox="1"/>
          <p:nvPr/>
        </p:nvSpPr>
        <p:spPr>
          <a:xfrm>
            <a:off x="6437376" y="1920240"/>
            <a:ext cx="4922215"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Contract</a:t>
            </a:r>
          </a:p>
        </p:txBody>
      </p:sp>
      <p:sp>
        <p:nvSpPr>
          <p:cNvPr id="11" name="Rectangle 10"/>
          <p:cNvSpPr/>
          <p:nvPr/>
        </p:nvSpPr>
        <p:spPr>
          <a:xfrm>
            <a:off x="777240" y="2194560"/>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194560"/>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/caf/snapshot</a:t>
            </a:r>
          </a:p>
        </p:txBody>
      </p:sp>
      <p:sp>
        <p:nvSpPr>
          <p:cNvPr id="13" name="TextBox 12"/>
          <p:cNvSpPr txBox="1"/>
          <p:nvPr/>
        </p:nvSpPr>
        <p:spPr>
          <a:xfrm>
            <a:off x="5385816" y="2194560"/>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GET</a:t>
            </a:r>
          </a:p>
        </p:txBody>
      </p:sp>
      <p:sp>
        <p:nvSpPr>
          <p:cNvPr id="14" name="TextBox 13"/>
          <p:cNvSpPr txBox="1"/>
          <p:nvPr/>
        </p:nvSpPr>
        <p:spPr>
          <a:xfrm>
            <a:off x="6437376" y="2194560"/>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Read-only comparison feed — number, status, state, description, updated_on</a:t>
            </a:r>
          </a:p>
        </p:txBody>
      </p:sp>
      <p:sp>
        <p:nvSpPr>
          <p:cNvPr id="15" name="Rectangle 14"/>
          <p:cNvSpPr/>
          <p:nvPr/>
        </p:nvSpPr>
        <p:spPr>
          <a:xfrm>
            <a:off x="777240" y="2615184"/>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15184"/>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/caf/resync/{type}/{sysId}</a:t>
            </a:r>
          </a:p>
        </p:txBody>
      </p:sp>
      <p:sp>
        <p:nvSpPr>
          <p:cNvPr id="17" name="TextBox 16"/>
          <p:cNvSpPr txBox="1"/>
          <p:nvPr/>
        </p:nvSpPr>
        <p:spPr>
          <a:xfrm>
            <a:off x="5385816" y="2615184"/>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POST</a:t>
            </a:r>
          </a:p>
        </p:txBody>
      </p:sp>
      <p:sp>
        <p:nvSpPr>
          <p:cNvPr id="18" name="TextBox 17"/>
          <p:cNvSpPr txBox="1"/>
          <p:nvPr/>
        </p:nvSpPr>
        <p:spPr>
          <a:xfrm>
            <a:off x="6437376" y="2615184"/>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Re-push one record. Changes nothing in ServiceNow</a:t>
            </a:r>
          </a:p>
        </p:txBody>
      </p:sp>
      <p:sp>
        <p:nvSpPr>
          <p:cNvPr id="19" name="Rectangle 18"/>
          <p:cNvSpPr/>
          <p:nvPr/>
        </p:nvSpPr>
        <p:spPr>
          <a:xfrm>
            <a:off x="777240" y="3035808"/>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35808"/>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/caf/task/{sysId}</a:t>
            </a:r>
          </a:p>
        </p:txBody>
      </p:sp>
      <p:sp>
        <p:nvSpPr>
          <p:cNvPr id="21" name="TextBox 20"/>
          <p:cNvSpPr txBox="1"/>
          <p:nvPr/>
        </p:nvSpPr>
        <p:spPr>
          <a:xfrm>
            <a:off x="5385816" y="3035808"/>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PATCH</a:t>
            </a:r>
          </a:p>
        </p:txBody>
      </p:sp>
      <p:sp>
        <p:nvSpPr>
          <p:cNvPr id="22" name="TextBox 21"/>
          <p:cNvSpPr txBox="1"/>
          <p:nvPr/>
        </p:nvSpPr>
        <p:spPr>
          <a:xfrm>
            <a:off x="6437376" y="3035808"/>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Six allow-listed fields. Any other field fails the whole call with 400</a:t>
            </a:r>
          </a:p>
        </p:txBody>
      </p:sp>
      <p:sp>
        <p:nvSpPr>
          <p:cNvPr id="23" name="Rectangle 22"/>
          <p:cNvSpPr/>
          <p:nvPr/>
        </p:nvSpPr>
        <p:spPr>
          <a:xfrm>
            <a:off x="777240" y="3456432"/>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456432"/>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/caf/task/{sysId}/evidence</a:t>
            </a:r>
          </a:p>
        </p:txBody>
      </p:sp>
      <p:sp>
        <p:nvSpPr>
          <p:cNvPr id="25" name="TextBox 24"/>
          <p:cNvSpPr txBox="1"/>
          <p:nvPr/>
        </p:nvSpPr>
        <p:spPr>
          <a:xfrm>
            <a:off x="5385816" y="3456432"/>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POST</a:t>
            </a:r>
          </a:p>
        </p:txBody>
      </p:sp>
      <p:sp>
        <p:nvSpPr>
          <p:cNvPr id="26" name="TextBox 25"/>
          <p:cNvSpPr txBox="1"/>
          <p:nvPr/>
        </p:nvSpPr>
        <p:spPr>
          <a:xfrm>
            <a:off x="6437376" y="3456432"/>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base64 in, sys_attachment out. 2 MB ceiling</a:t>
            </a:r>
          </a:p>
        </p:txBody>
      </p:sp>
      <p:sp>
        <p:nvSpPr>
          <p:cNvPr id="27" name="Rectangle 26"/>
          <p:cNvSpPr/>
          <p:nvPr/>
        </p:nvSpPr>
        <p:spPr>
          <a:xfrm>
            <a:off x="777240" y="3877056"/>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877056"/>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/caf/task/{sysId}/evidence</a:t>
            </a:r>
          </a:p>
        </p:txBody>
      </p:sp>
      <p:sp>
        <p:nvSpPr>
          <p:cNvPr id="29" name="TextBox 28"/>
          <p:cNvSpPr txBox="1"/>
          <p:nvPr/>
        </p:nvSpPr>
        <p:spPr>
          <a:xfrm>
            <a:off x="5385816" y="3877056"/>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GET</a:t>
            </a:r>
          </a:p>
        </p:txBody>
      </p:sp>
      <p:sp>
        <p:nvSpPr>
          <p:cNvPr id="30" name="TextBox 29"/>
          <p:cNvSpPr txBox="1"/>
          <p:nvPr/>
        </p:nvSpPr>
        <p:spPr>
          <a:xfrm>
            <a:off x="6437376" y="3877056"/>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What ServiceNow actually holds. Read-only</a:t>
            </a:r>
          </a:p>
        </p:txBody>
      </p:sp>
      <p:sp>
        <p:nvSpPr>
          <p:cNvPr id="31" name="Rectangle 30"/>
          <p:cNvSpPr/>
          <p:nvPr/>
        </p:nvSpPr>
        <p:spPr>
          <a:xfrm>
            <a:off x="777240" y="4297680"/>
            <a:ext cx="10637215" cy="420624"/>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297680"/>
            <a:ext cx="4261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/caf/task/{sysId}/attest</a:t>
            </a:r>
          </a:p>
        </p:txBody>
      </p:sp>
      <p:sp>
        <p:nvSpPr>
          <p:cNvPr id="33" name="TextBox 32"/>
          <p:cNvSpPr txBox="1"/>
          <p:nvPr/>
        </p:nvSpPr>
        <p:spPr>
          <a:xfrm>
            <a:off x="5385816" y="4297680"/>
            <a:ext cx="832104"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POST</a:t>
            </a:r>
          </a:p>
        </p:txBody>
      </p:sp>
      <p:sp>
        <p:nvSpPr>
          <p:cNvPr id="34" name="TextBox 33"/>
          <p:cNvSpPr txBox="1"/>
          <p:nvPr/>
        </p:nvSpPr>
        <p:spPr>
          <a:xfrm>
            <a:off x="6437376" y="4297680"/>
            <a:ext cx="4885639" cy="420624"/>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The gate, then the outcome. 400 / 404 / 409 / 428</a:t>
            </a:r>
          </a:p>
        </p:txBody>
      </p:sp>
      <p:sp>
        <p:nvSpPr>
          <p:cNvPr id="35" name="TextBox 34"/>
          <p:cNvSpPr txBox="1"/>
          <p:nvPr/>
        </p:nvSpPr>
        <p:spPr>
          <a:xfrm>
            <a:off x="777240" y="4681728"/>
            <a:ext cx="10637215" cy="274320"/>
          </a:xfrm>
          <a:prstGeom prst="rect">
            <a:avLst/>
          </a:prstGeom>
          <a:noFill/>
        </p:spPr>
        <p:txBody>
          <a:bodyPr wrap="square" lIns="0" rIns="0" tIns="0" bIns="0">
            <a:spAutoFit/>
          </a:bodyPr>
          <a:lstStyle/>
          <a:p>
            <a:pPr algn="l">
              <a:spcBef>
                <a:spcPts val="0"/>
              </a:spcBef>
              <a:spcAft>
                <a:spcPts val="0"/>
              </a:spcAft>
            </a:pPr>
            <a:r>
              <a:rPr sz="1150" b="1" i="0">
                <a:solidFill>
                  <a:srgbClr val="0A3176"/>
                </a:solidFill>
                <a:latin typeface="Consolas"/>
              </a:rPr>
              <a:t>WRITABLE = ['state', 'met_criteria', 'approval', 'comments', 'vqd_link', 'vqd_link_2']</a:t>
            </a:r>
          </a:p>
        </p:txBody>
      </p:sp>
      <p:sp>
        <p:nvSpPr>
          <p:cNvPr id="36" name="TextBox 35"/>
          <p:cNvSpPr txBox="1"/>
          <p:nvPr/>
        </p:nvSpPr>
        <p:spPr>
          <a:xfrm>
            <a:off x="777240" y="5102352"/>
            <a:ext cx="10637215" cy="841248"/>
          </a:xfrm>
          <a:prstGeom prst="rect">
            <a:avLst/>
          </a:prstGeom>
          <a:noFill/>
        </p:spPr>
        <p:txBody>
          <a:bodyPr wrap="square" lIns="0" rIns="0" tIns="0" bIns="0">
            <a:spAutoFit/>
          </a:bodyPr>
          <a:lstStyle/>
          <a:p>
            <a:pPr>
              <a:lnSpc>
                <a:spcPct val="122000"/>
              </a:lnSpc>
              <a:spcAft>
                <a:spcPts val="800"/>
              </a:spcAft>
            </a:pPr>
            <a:r>
              <a:rPr sz="1250" b="1">
                <a:solidFill>
                  <a:srgbClr val="0A3176"/>
                </a:solidFill>
                <a:latin typeface="Calibri"/>
              </a:rPr>
              <a:t>An allow-list, not a deny-list.  </a:t>
            </a:r>
            <a:r>
              <a:rPr sz="1250">
                <a:solidFill>
                  <a:srgbClr val="1A1A1A"/>
                </a:solidFill>
                <a:latin typeface="Calibri"/>
              </a:rPr>
              <a:t>The interesting fields on a CAF Task are system-managed — number, active, actual dates, business application — and letting an external system set them would corrupt the state machine.</a:t>
            </a:r>
          </a:p>
          <a:p>
            <a:pPr>
              <a:lnSpc>
                <a:spcPct val="122000"/>
              </a:lnSpc>
              <a:spcAft>
                <a:spcPts val="800"/>
              </a:spcAft>
            </a:pPr>
            <a:r>
              <a:rPr sz="1250" b="1">
                <a:solidFill>
                  <a:srgbClr val="0A3176"/>
                </a:solidFill>
                <a:latin typeface="Calibri"/>
              </a:rPr>
              <a:t>The whole call is refused, never the writable subset.  </a:t>
            </a:r>
            <a:r>
              <a:rPr sz="1250">
                <a:solidFill>
                  <a:srgbClr val="1A1A1A"/>
                </a:solidFill>
                <a:latin typeface="Calibri"/>
              </a:rPr>
              <a:t>A caller that believes it set met_criteria and did not is worse than an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an attestation actually does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endpoint writes three fields. Everything after that is the engine that already existed.</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2029968"/>
            <a:ext cx="1828800" cy="1060704"/>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29968"/>
            <a:ext cx="18288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121408"/>
            <a:ext cx="1627632" cy="896112"/>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onsolas"/>
              </a:rPr>
              <a:t>POST /attest
met_criteria, outcome,
comments</a:t>
            </a:r>
          </a:p>
        </p:txBody>
      </p:sp>
      <p:sp>
        <p:nvSpPr>
          <p:cNvPr id="10" name="Right Arrow 9"/>
          <p:cNvSpPr/>
          <p:nvPr/>
        </p:nvSpPr>
        <p:spPr>
          <a:xfrm>
            <a:off x="2660904" y="2423160"/>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80944" y="2029968"/>
            <a:ext cx="1828800" cy="1060704"/>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80944" y="202996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81528" y="2121408"/>
            <a:ext cx="1627632" cy="896112"/>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Endpoint writes
three fields
and nothing else</a:t>
            </a:r>
          </a:p>
        </p:txBody>
      </p:sp>
      <p:sp>
        <p:nvSpPr>
          <p:cNvPr id="14" name="Right Arrow 13"/>
          <p:cNvSpPr/>
          <p:nvPr/>
        </p:nvSpPr>
        <p:spPr>
          <a:xfrm>
            <a:off x="4864608" y="2423160"/>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84648" y="2029968"/>
            <a:ext cx="1828800" cy="1060704"/>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84648" y="202996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2" y="2121408"/>
            <a:ext cx="1627632" cy="896112"/>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Business rule
“success criteria not met”
closes the task</a:t>
            </a:r>
          </a:p>
        </p:txBody>
      </p:sp>
      <p:sp>
        <p:nvSpPr>
          <p:cNvPr id="18" name="Right Arrow 17"/>
          <p:cNvSpPr/>
          <p:nvPr/>
        </p:nvSpPr>
        <p:spPr>
          <a:xfrm>
            <a:off x="7068312" y="2423160"/>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88352" y="2029968"/>
            <a:ext cx="1828800" cy="1060704"/>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8352" y="202996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936" y="2121408"/>
            <a:ext cx="1627632" cy="896112"/>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Parent request
caf_status set in or
out of compliance</a:t>
            </a:r>
          </a:p>
        </p:txBody>
      </p:sp>
      <p:sp>
        <p:nvSpPr>
          <p:cNvPr id="22" name="Right Arrow 21"/>
          <p:cNvSpPr/>
          <p:nvPr/>
        </p:nvSpPr>
        <p:spPr>
          <a:xfrm>
            <a:off x="9272016" y="2423160"/>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92056" y="2029968"/>
            <a:ext cx="1828800" cy="1060704"/>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92056" y="2029968"/>
            <a:ext cx="1828800" cy="3810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2121408"/>
            <a:ext cx="1627632" cy="896112"/>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Flow spawns the
next task in the
template chain</a:t>
            </a:r>
          </a:p>
        </p:txBody>
      </p:sp>
      <p:sp>
        <p:nvSpPr>
          <p:cNvPr id="26" name="TextBox 25"/>
          <p:cNvSpPr txBox="1"/>
          <p:nvPr/>
        </p:nvSpPr>
        <p:spPr>
          <a:xfrm>
            <a:off x="777240" y="3401568"/>
            <a:ext cx="10637215" cy="2542032"/>
          </a:xfrm>
          <a:prstGeom prst="rect">
            <a:avLst/>
          </a:prstGeom>
          <a:noFill/>
        </p:spPr>
        <p:txBody>
          <a:bodyPr wrap="square" lIns="0" rIns="0" tIns="0" bIns="0">
            <a:spAutoFit/>
          </a:bodyPr>
          <a:lstStyle/>
          <a:p>
            <a:pPr>
              <a:lnSpc>
                <a:spcPct val="122000"/>
              </a:lnSpc>
              <a:spcAft>
                <a:spcPts val="900"/>
              </a:spcAft>
            </a:pPr>
            <a:r>
              <a:rPr sz="1250" b="1">
                <a:solidFill>
                  <a:srgbClr val="0A3176"/>
                </a:solidFill>
                <a:latin typeface="Calibri"/>
              </a:rPr>
              <a:t>The transition was not rebuilt, and must not be.  </a:t>
            </a:r>
            <a:r>
              <a:rPr sz="1250">
                <a:solidFill>
                  <a:srgbClr val="1A1A1A"/>
                </a:solidFill>
                <a:latin typeface="Calibri"/>
              </a:rPr>
              <a:t>Setting approval is the whole act. The active rule closes the task and moves the parent's compliance status; implementing that in the endpoint would put a second copy of the transition beside the one the AngularJS portal already runs.</a:t>
            </a:r>
          </a:p>
          <a:p>
            <a:pPr>
              <a:lnSpc>
                <a:spcPct val="122000"/>
              </a:lnSpc>
              <a:spcAft>
                <a:spcPts val="900"/>
              </a:spcAft>
            </a:pPr>
            <a:r>
              <a:rPr sz="1250" b="1">
                <a:solidFill>
                  <a:srgbClr val="0A3176"/>
                </a:solidFill>
                <a:latin typeface="Calibri"/>
              </a:rPr>
              <a:t>Closing a task does not close its request.  </a:t>
            </a:r>
            <a:r>
              <a:rPr sz="1250">
                <a:solidFill>
                  <a:srgbClr val="1A1A1A"/>
                </a:solidFill>
                <a:latin typeface="Calibri"/>
              </a:rPr>
              <a:t>Measured: the flow creates the next task in the chain instead. The request closes only once that second task is attested too — which is why the feature works per task rather than per request.</a:t>
            </a:r>
          </a:p>
          <a:p>
            <a:pPr>
              <a:lnSpc>
                <a:spcPct val="122000"/>
              </a:lnSpc>
              <a:spcAft>
                <a:spcPts val="900"/>
              </a:spcAft>
            </a:pPr>
            <a:r>
              <a:rPr sz="1250" b="1">
                <a:solidFill>
                  <a:srgbClr val="0A3176"/>
                </a:solidFill>
                <a:latin typeface="Calibri"/>
              </a:rPr>
              <a:t>approval = 'requested' is the default, not a submitted state.  </a:t>
            </a:r>
            <a:r>
              <a:rPr sz="1250">
                <a:solidFill>
                  <a:srgbClr val="1A1A1A"/>
                </a:solidFill>
                <a:latin typeface="Calibri"/>
              </a:rPr>
              <a:t>Most tasks read requested with nobody having submitted anything, and sysapproval_approver holds effectively no CAF records. The act is requested → approved or rejected; there is no submit step to model, and no named approver on the record.</a:t>
            </a:r>
          </a:p>
        </p:txBody>
      </p:sp>
      <p:sp>
        <p:nvSpPr>
          <p:cNvPr id="27" name="Rectangle 26"/>
          <p:cNvSpPr/>
          <p:nvPr/>
        </p:nvSpPr>
        <p:spPr>
          <a:xfrm>
            <a:off x="777240" y="5358384"/>
            <a:ext cx="10637215" cy="76809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58384"/>
            <a:ext cx="44450" cy="768096"/>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486400"/>
            <a:ext cx="10180015" cy="585216"/>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Every step after the first is code that already existed. The integration's entire contribution to an attestation is three field writes and two explicit pushes — which is why adding it changed no business rule and no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Evidence — two copies, on purpose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One file, stored on both platforms, reconciled by neither.</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65376"/>
            <a:ext cx="5135727" cy="36576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47672"/>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Salesforce keeps the ContentVersion</a:t>
            </a:r>
          </a:p>
        </p:txBody>
      </p:sp>
      <p:sp>
        <p:nvSpPr>
          <p:cNvPr id="9" name="TextBox 8"/>
          <p:cNvSpPr txBox="1"/>
          <p:nvPr/>
        </p:nvSpPr>
        <p:spPr>
          <a:xfrm>
            <a:off x="960120" y="2377440"/>
            <a:ext cx="4788255" cy="1371600"/>
          </a:xfrm>
          <a:prstGeom prst="rect">
            <a:avLst/>
          </a:prstGeom>
          <a:noFill/>
        </p:spPr>
        <p:txBody>
          <a:bodyPr wrap="square" lIns="0" rIns="0" tIns="0" bIns="0">
            <a:spAutoFit/>
          </a:bodyPr>
          <a:lstStyle/>
          <a:p>
            <a:pPr marL="155448" indent="-155448">
              <a:lnSpc>
                <a:spcPct val="118000"/>
              </a:lnSpc>
              <a:spcAft>
                <a:spcPts val="900"/>
              </a:spcAft>
            </a:pPr>
            <a:r>
              <a:rPr sz="1150">
                <a:solidFill>
                  <a:srgbClr val="1A1A1A"/>
                </a:solidFill>
                <a:latin typeface="Calibri"/>
              </a:rPr>
              <a:t>·  Preview, download and the standard Files related list work with no round trip.</a:t>
            </a:r>
          </a:p>
          <a:p>
            <a:pPr marL="155448" indent="-155448">
              <a:lnSpc>
                <a:spcPct val="118000"/>
              </a:lnSpc>
              <a:spcAft>
                <a:spcPts val="900"/>
              </a:spcAft>
            </a:pPr>
            <a:r>
              <a:rPr sz="1150">
                <a:solidFill>
                  <a:srgbClr val="1A1A1A"/>
                </a:solidFill>
                <a:latin typeface="Calibri"/>
              </a:rPr>
              <a:t>·  Linked through ContentDocumentLink — not FirstPublishLocationId, which returns nothing for a file uploaded by lightning-file-upload.</a:t>
            </a:r>
          </a:p>
        </p:txBody>
      </p:sp>
      <p:sp>
        <p:nvSpPr>
          <p:cNvPr id="10" name="Rectangle 9"/>
          <p:cNvSpPr/>
          <p:nvPr/>
        </p:nvSpPr>
        <p:spPr>
          <a:xfrm>
            <a:off x="6278727" y="1865376"/>
            <a:ext cx="5135727"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607" y="1947672"/>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ServiceNow keeps the sys_attachment</a:t>
            </a:r>
          </a:p>
        </p:txBody>
      </p:sp>
      <p:sp>
        <p:nvSpPr>
          <p:cNvPr id="12" name="TextBox 11"/>
          <p:cNvSpPr txBox="1"/>
          <p:nvPr/>
        </p:nvSpPr>
        <p:spPr>
          <a:xfrm>
            <a:off x="6461607" y="2377440"/>
            <a:ext cx="4788255" cy="1371600"/>
          </a:xfrm>
          <a:prstGeom prst="rect">
            <a:avLst/>
          </a:prstGeom>
          <a:noFill/>
        </p:spPr>
        <p:txBody>
          <a:bodyPr wrap="square" lIns="0" rIns="0" tIns="0" bIns="0">
            <a:spAutoFit/>
          </a:bodyPr>
          <a:lstStyle/>
          <a:p>
            <a:pPr marL="155448" indent="-155448">
              <a:lnSpc>
                <a:spcPct val="118000"/>
              </a:lnSpc>
              <a:spcAft>
                <a:spcPts val="900"/>
              </a:spcAft>
            </a:pPr>
            <a:r>
              <a:rPr sz="1150">
                <a:solidFill>
                  <a:srgbClr val="1A1A1A"/>
                </a:solidFill>
                <a:latin typeface="Calibri"/>
              </a:rPr>
              <a:t>·  The copy an auditor is entitled to, written by GlideSysAttachment().writeBase64().</a:t>
            </a:r>
          </a:p>
          <a:p>
            <a:pPr marL="155448" indent="-155448">
              <a:lnSpc>
                <a:spcPct val="118000"/>
              </a:lnSpc>
              <a:spcAft>
                <a:spcPts val="900"/>
              </a:spcAft>
            </a:pPr>
            <a:r>
              <a:rPr sz="1150">
                <a:solidFill>
                  <a:srgbClr val="1A1A1A"/>
                </a:solidFill>
                <a:latin typeface="Calibri"/>
              </a:rPr>
              <a:t>·  The only copy the attestation gate counts. A file visible in Salesforce with no ServiceNow attachment behind it is still refused.</a:t>
            </a:r>
          </a:p>
        </p:txBody>
      </p:sp>
      <p:sp>
        <p:nvSpPr>
          <p:cNvPr id="13" name="TextBox 12"/>
          <p:cNvSpPr txBox="1"/>
          <p:nvPr/>
        </p:nvSpPr>
        <p:spPr>
          <a:xfrm>
            <a:off x="777240" y="3621024"/>
            <a:ext cx="10637215" cy="2322576"/>
          </a:xfrm>
          <a:prstGeom prst="rect">
            <a:avLst/>
          </a:prstGeom>
          <a:noFill/>
        </p:spPr>
        <p:txBody>
          <a:bodyPr wrap="square" lIns="0" rIns="0" tIns="0" bIns="0">
            <a:spAutoFit/>
          </a:bodyPr>
          <a:lstStyle/>
          <a:p>
            <a:pPr>
              <a:lnSpc>
                <a:spcPct val="122000"/>
              </a:lnSpc>
              <a:spcAft>
                <a:spcPts val="900"/>
              </a:spcAft>
            </a:pPr>
            <a:r>
              <a:rPr sz="1250" b="1">
                <a:solidFill>
                  <a:srgbClr val="0A3176"/>
                </a:solidFill>
                <a:latin typeface="Calibri"/>
              </a:rPr>
              <a:t>They are not reconciled, and should not be.  </a:t>
            </a:r>
            <a:r>
              <a:rPr sz="1250">
                <a:solidFill>
                  <a:srgbClr val="1A1A1A"/>
                </a:solidFill>
                <a:latin typeface="Calibri"/>
              </a:rPr>
              <a:t>Unlike a mirrored field there is no value to disagree about. Both lists are shown side by side, so a failed push is visible rather than inferred, and a count mismatch raises a warning in the panel.</a:t>
            </a:r>
          </a:p>
          <a:p>
            <a:pPr>
              <a:lnSpc>
                <a:spcPct val="122000"/>
              </a:lnSpc>
              <a:spcAft>
                <a:spcPts val="900"/>
              </a:spcAft>
            </a:pPr>
            <a:r>
              <a:rPr sz="1250" b="1">
                <a:solidFill>
                  <a:srgbClr val="0A3176"/>
                </a:solidFill>
                <a:latin typeface="Calibri"/>
              </a:rPr>
              <a:t>The gate lives in the endpoint, not in the business rule.  </a:t>
            </a:r>
            <a:r>
              <a:rPr sz="1250">
                <a:solidFill>
                  <a:srgbClr val="1A1A1A"/>
                </a:solidFill>
                <a:latin typeface="Calibri"/>
              </a:rPr>
              <a:t>CAF - attachment mandatory for def tasks implements the same check and is deliberately inactive: activating it would change closure behaviour for the portal and for admins, and every pre-existing task has no attachment. The gate binds callers of this endpoint and nobody else.</a:t>
            </a:r>
          </a:p>
          <a:p>
            <a:pPr>
              <a:lnSpc>
                <a:spcPct val="122000"/>
              </a:lnSpc>
              <a:spcAft>
                <a:spcPts val="900"/>
              </a:spcAft>
            </a:pPr>
            <a:r>
              <a:rPr sz="1250" b="1">
                <a:solidFill>
                  <a:srgbClr val="0A3176"/>
                </a:solidFill>
                <a:latin typeface="Calibri"/>
              </a:rPr>
              <a:t>2 MB per file, and one file per transaction.  </a:t>
            </a:r>
            <a:r>
              <a:rPr sz="1250">
                <a:solidFill>
                  <a:srgbClr val="1A1A1A"/>
                </a:solidFill>
                <a:latin typeface="Calibri"/>
              </a:rPr>
              <a:t>Apex holds the Blob and its base64 expansion in the same 6 MB heap and caps a callout body at 6 MB. Apex also cannot call out after DML in the same transaction, so uploading and pushing are two transactions by necessity, not by choice.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control catalogue, and what a delete means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Columns come from the control table, not from the requests — and a deleted control has to stop being a column.</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TextBox 6"/>
          <p:cNvSpPr txBox="1"/>
          <p:nvPr/>
        </p:nvSpPr>
        <p:spPr>
          <a:xfrm>
            <a:off x="777240" y="1865376"/>
            <a:ext cx="10637215" cy="4078224"/>
          </a:xfrm>
          <a:prstGeom prst="rect">
            <a:avLst/>
          </a:prstGeom>
          <a:noFill/>
        </p:spPr>
        <p:txBody>
          <a:bodyPr wrap="square" lIns="0" rIns="0" tIns="0" bIns="0">
            <a:spAutoFit/>
          </a:bodyPr>
          <a:lstStyle/>
          <a:p>
            <a:pPr>
              <a:lnSpc>
                <a:spcPct val="122000"/>
              </a:lnSpc>
              <a:spcAft>
                <a:spcPts val="1000"/>
              </a:spcAft>
            </a:pPr>
            <a:r>
              <a:rPr sz="1250" b="1">
                <a:solidFill>
                  <a:srgbClr val="0A3176"/>
                </a:solidFill>
                <a:latin typeface="Calibri"/>
              </a:rPr>
              <a:t>The two grids once derived their columns differently.  </a:t>
            </a:r>
            <a:r>
              <a:rPr sz="1250">
                <a:solidFill>
                  <a:srgbClr val="1A1A1A"/>
                </a:solidFill>
                <a:latin typeface="Calibri"/>
              </a:rPr>
              <a:t>ServiceNow read the control table; Salesforce read the distinct control names present on mirrored requests. A control with no requests therefore had a column on one platform and none on the other. The fix was to mirror the catalogue itself.</a:t>
            </a:r>
          </a:p>
          <a:p>
            <a:pPr>
              <a:lnSpc>
                <a:spcPct val="122000"/>
              </a:lnSpc>
              <a:spcAft>
                <a:spcPts val="1000"/>
              </a:spcAft>
            </a:pPr>
            <a:r>
              <a:rPr sz="1250" b="1">
                <a:solidFill>
                  <a:srgbClr val="0A3176"/>
                </a:solidFill>
                <a:latin typeface="Calibri"/>
              </a:rPr>
              <a:t>A control with no request against it shows N/A, and stays out of the denominator.  </a:t>
            </a:r>
            <a:r>
              <a:rPr sz="1250">
                <a:solidFill>
                  <a:srgbClr val="1A1A1A"/>
                </a:solidFill>
                <a:latin typeface="Calibri"/>
              </a:rPr>
              <a:t>An application is compliant only when every control it has actually been assessed against is. Counting N/A would mean adding a control in ServiceNow silently marks every application non-compliant — a scoring change disguised as a display change.</a:t>
            </a:r>
          </a:p>
          <a:p>
            <a:pPr>
              <a:lnSpc>
                <a:spcPct val="122000"/>
              </a:lnSpc>
              <a:spcAft>
                <a:spcPts val="1000"/>
              </a:spcAft>
            </a:pPr>
            <a:r>
              <a:rPr sz="1250" b="1">
                <a:solidFill>
                  <a:srgbClr val="0A3176"/>
                </a:solidFill>
                <a:latin typeface="Calibri"/>
              </a:rPr>
              <a:t>Deletes propagate for controls, and for nothing else.  </a:t>
            </a:r>
            <a:r>
              <a:rPr sz="1250">
                <a:solidFill>
                  <a:srgbClr val="1A1A1A"/>
                </a:solidFill>
                <a:latin typeface="Calibri"/>
              </a:rPr>
              <a:t>An orphaned control is a visible column, not a stray row, so the retire rule mirrors a delete as Active__c = false and the column disappears. Requests and tasks propagate no delete in either direction and should not start to: a control is reference data, a request carries compliance history, and a delete cannot be undone by a re-sync.</a:t>
            </a:r>
          </a:p>
        </p:txBody>
      </p:sp>
      <p:sp>
        <p:nvSpPr>
          <p:cNvPr id="8" name="Rectangle 7"/>
          <p:cNvSpPr/>
          <p:nvPr/>
        </p:nvSpPr>
        <p:spPr>
          <a:xfrm>
            <a:off x="777240" y="5230368"/>
            <a:ext cx="10637215" cy="74980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44450" cy="749808"/>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5358384"/>
            <a:ext cx="10180015" cy="566928"/>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Mid-cleanup is the hazardous state. Because the sync upserts on External Id, updating a not-yet-deleted ServiceNow record recreates its Salesforce twin — so a half-finished tidy-up can undo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Sync Health — the component that answers “is the mirror still true?”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Detection is automatic. Repair never is.</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01952"/>
            <a:ext cx="2556433" cy="107899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01952"/>
            <a:ext cx="2556433" cy="44450"/>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121408"/>
            <a:ext cx="2282113" cy="548640"/>
          </a:xfrm>
          <a:prstGeom prst="rect">
            <a:avLst/>
          </a:prstGeom>
          <a:noFill/>
        </p:spPr>
        <p:txBody>
          <a:bodyPr wrap="square" lIns="0" rIns="0" tIns="0" bIns="0">
            <a:spAutoFit/>
          </a:bodyPr>
          <a:lstStyle/>
          <a:p>
            <a:pPr algn="l">
              <a:lnSpc>
                <a:spcPct val="116000"/>
              </a:lnSpc>
              <a:spcBef>
                <a:spcPts val="0"/>
              </a:spcBef>
              <a:spcAft>
                <a:spcPts val="0"/>
              </a:spcAft>
            </a:pPr>
            <a:r>
              <a:rPr sz="1150" b="1" i="0">
                <a:solidFill>
                  <a:srgbClr val="000724"/>
                </a:solidFill>
                <a:latin typeface="Calibri"/>
              </a:rPr>
              <a:t>In ServiceNow,
missing in Salesforce</a:t>
            </a:r>
          </a:p>
        </p:txBody>
      </p:sp>
      <p:sp>
        <p:nvSpPr>
          <p:cNvPr id="10" name="TextBox 9"/>
          <p:cNvSpPr txBox="1"/>
          <p:nvPr/>
        </p:nvSpPr>
        <p:spPr>
          <a:xfrm>
            <a:off x="941832" y="2651760"/>
            <a:ext cx="2282113" cy="274320"/>
          </a:xfrm>
          <a:prstGeom prst="rect">
            <a:avLst/>
          </a:prstGeom>
          <a:noFill/>
        </p:spPr>
        <p:txBody>
          <a:bodyPr wrap="square" lIns="0" rIns="0" tIns="0" bIns="0">
            <a:spAutoFit/>
          </a:bodyPr>
          <a:lstStyle/>
          <a:p>
            <a:pPr algn="l">
              <a:spcBef>
                <a:spcPts val="0"/>
              </a:spcBef>
              <a:spcAft>
                <a:spcPts val="0"/>
              </a:spcAft>
            </a:pPr>
            <a:r>
              <a:rPr sz="1000" b="0" i="1">
                <a:solidFill>
                  <a:srgbClr val="606676"/>
                </a:solidFill>
                <a:latin typeface="Calibri"/>
              </a:rPr>
              <a:t>a failed push</a:t>
            </a:r>
          </a:p>
        </p:txBody>
      </p:sp>
      <p:sp>
        <p:nvSpPr>
          <p:cNvPr id="11" name="Rectangle 10"/>
          <p:cNvSpPr/>
          <p:nvPr/>
        </p:nvSpPr>
        <p:spPr>
          <a:xfrm>
            <a:off x="3470833" y="1901952"/>
            <a:ext cx="2556433" cy="107899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0833" y="1901952"/>
            <a:ext cx="2556433" cy="44450"/>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5425" y="2121408"/>
            <a:ext cx="2282113" cy="548640"/>
          </a:xfrm>
          <a:prstGeom prst="rect">
            <a:avLst/>
          </a:prstGeom>
          <a:noFill/>
        </p:spPr>
        <p:txBody>
          <a:bodyPr wrap="square" lIns="0" rIns="0" tIns="0" bIns="0">
            <a:spAutoFit/>
          </a:bodyPr>
          <a:lstStyle/>
          <a:p>
            <a:pPr algn="l">
              <a:lnSpc>
                <a:spcPct val="116000"/>
              </a:lnSpc>
              <a:spcBef>
                <a:spcPts val="0"/>
              </a:spcBef>
              <a:spcAft>
                <a:spcPts val="0"/>
              </a:spcAft>
            </a:pPr>
            <a:r>
              <a:rPr sz="1150" b="1" i="0">
                <a:solidFill>
                  <a:srgbClr val="000724"/>
                </a:solidFill>
                <a:latin typeface="Calibri"/>
              </a:rPr>
              <a:t>In Salesforce,
missing in ServiceNow</a:t>
            </a:r>
          </a:p>
        </p:txBody>
      </p:sp>
      <p:sp>
        <p:nvSpPr>
          <p:cNvPr id="14" name="TextBox 13"/>
          <p:cNvSpPr txBox="1"/>
          <p:nvPr/>
        </p:nvSpPr>
        <p:spPr>
          <a:xfrm>
            <a:off x="3635425" y="2651760"/>
            <a:ext cx="2282113" cy="274320"/>
          </a:xfrm>
          <a:prstGeom prst="rect">
            <a:avLst/>
          </a:prstGeom>
          <a:noFill/>
        </p:spPr>
        <p:txBody>
          <a:bodyPr wrap="square" lIns="0" rIns="0" tIns="0" bIns="0">
            <a:spAutoFit/>
          </a:bodyPr>
          <a:lstStyle/>
          <a:p>
            <a:pPr algn="l">
              <a:spcBef>
                <a:spcPts val="0"/>
              </a:spcBef>
              <a:spcAft>
                <a:spcPts val="0"/>
              </a:spcAft>
            </a:pPr>
            <a:r>
              <a:rPr sz="1000" b="0" i="1">
                <a:solidFill>
                  <a:srgbClr val="606676"/>
                </a:solidFill>
                <a:latin typeface="Calibri"/>
              </a:rPr>
              <a:t>an orphan, mid-cleanup</a:t>
            </a:r>
          </a:p>
        </p:txBody>
      </p:sp>
      <p:sp>
        <p:nvSpPr>
          <p:cNvPr id="15" name="Rectangle 14"/>
          <p:cNvSpPr/>
          <p:nvPr/>
        </p:nvSpPr>
        <p:spPr>
          <a:xfrm>
            <a:off x="6164427" y="1901952"/>
            <a:ext cx="2556433" cy="107899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4427" y="1901952"/>
            <a:ext cx="2556433" cy="4445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9019" y="2121408"/>
            <a:ext cx="2282113" cy="548640"/>
          </a:xfrm>
          <a:prstGeom prst="rect">
            <a:avLst/>
          </a:prstGeom>
          <a:noFill/>
        </p:spPr>
        <p:txBody>
          <a:bodyPr wrap="square" lIns="0" rIns="0" tIns="0" bIns="0">
            <a:spAutoFit/>
          </a:bodyPr>
          <a:lstStyle/>
          <a:p>
            <a:pPr algn="l">
              <a:lnSpc>
                <a:spcPct val="116000"/>
              </a:lnSpc>
              <a:spcBef>
                <a:spcPts val="0"/>
              </a:spcBef>
              <a:spcAft>
                <a:spcPts val="0"/>
              </a:spcAft>
            </a:pPr>
            <a:r>
              <a:rPr sz="1150" b="1" i="0">
                <a:solidFill>
                  <a:srgbClr val="000724"/>
                </a:solidFill>
                <a:latin typeface="Calibri"/>
              </a:rPr>
              <a:t>Same record,
different values</a:t>
            </a:r>
          </a:p>
        </p:txBody>
      </p:sp>
      <p:sp>
        <p:nvSpPr>
          <p:cNvPr id="18" name="TextBox 17"/>
          <p:cNvSpPr txBox="1"/>
          <p:nvPr/>
        </p:nvSpPr>
        <p:spPr>
          <a:xfrm>
            <a:off x="6329019" y="2651760"/>
            <a:ext cx="2282113" cy="274320"/>
          </a:xfrm>
          <a:prstGeom prst="rect">
            <a:avLst/>
          </a:prstGeom>
          <a:noFill/>
        </p:spPr>
        <p:txBody>
          <a:bodyPr wrap="square" lIns="0" rIns="0" tIns="0" bIns="0">
            <a:spAutoFit/>
          </a:bodyPr>
          <a:lstStyle/>
          <a:p>
            <a:pPr algn="l">
              <a:spcBef>
                <a:spcPts val="0"/>
              </a:spcBef>
              <a:spcAft>
                <a:spcPts val="0"/>
              </a:spcAft>
            </a:pPr>
            <a:r>
              <a:rPr sz="1000" b="0" i="1">
                <a:solidFill>
                  <a:srgbClr val="606676"/>
                </a:solidFill>
                <a:latin typeface="Calibri"/>
              </a:rPr>
              <a:t>the echo-loop stranding</a:t>
            </a:r>
          </a:p>
        </p:txBody>
      </p:sp>
      <p:sp>
        <p:nvSpPr>
          <p:cNvPr id="19" name="Rectangle 18"/>
          <p:cNvSpPr/>
          <p:nvPr/>
        </p:nvSpPr>
        <p:spPr>
          <a:xfrm>
            <a:off x="8858021" y="1901952"/>
            <a:ext cx="2556433" cy="107899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58021" y="1901952"/>
            <a:ext cx="2556433" cy="4445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2613" y="2121408"/>
            <a:ext cx="2282113" cy="548640"/>
          </a:xfrm>
          <a:prstGeom prst="rect">
            <a:avLst/>
          </a:prstGeom>
          <a:noFill/>
        </p:spPr>
        <p:txBody>
          <a:bodyPr wrap="square" lIns="0" rIns="0" tIns="0" bIns="0">
            <a:spAutoFit/>
          </a:bodyPr>
          <a:lstStyle/>
          <a:p>
            <a:pPr algn="l">
              <a:lnSpc>
                <a:spcPct val="116000"/>
              </a:lnSpc>
              <a:spcBef>
                <a:spcPts val="0"/>
              </a:spcBef>
              <a:spcAft>
                <a:spcPts val="0"/>
              </a:spcAft>
            </a:pPr>
            <a:r>
              <a:rPr sz="1150" b="1" i="0">
                <a:solidFill>
                  <a:srgbClr val="000724"/>
                </a:solidFill>
                <a:latin typeface="Calibri"/>
              </a:rPr>
              <a:t>Salesforce
simply stale</a:t>
            </a:r>
          </a:p>
        </p:txBody>
      </p:sp>
      <p:sp>
        <p:nvSpPr>
          <p:cNvPr id="22" name="TextBox 21"/>
          <p:cNvSpPr txBox="1"/>
          <p:nvPr/>
        </p:nvSpPr>
        <p:spPr>
          <a:xfrm>
            <a:off x="9022613" y="2651760"/>
            <a:ext cx="2282113" cy="274320"/>
          </a:xfrm>
          <a:prstGeom prst="rect">
            <a:avLst/>
          </a:prstGeom>
          <a:noFill/>
        </p:spPr>
        <p:txBody>
          <a:bodyPr wrap="square" lIns="0" rIns="0" tIns="0" bIns="0">
            <a:spAutoFit/>
          </a:bodyPr>
          <a:lstStyle/>
          <a:p>
            <a:pPr algn="l">
              <a:spcBef>
                <a:spcPts val="0"/>
              </a:spcBef>
              <a:spcAft>
                <a:spcPts val="0"/>
              </a:spcAft>
            </a:pPr>
            <a:r>
              <a:rPr sz="1000" b="0" i="1">
                <a:solidFill>
                  <a:srgbClr val="606676"/>
                </a:solidFill>
                <a:latin typeface="Calibri"/>
              </a:rPr>
              <a:t>a push that never fired</a:t>
            </a:r>
          </a:p>
        </p:txBody>
      </p:sp>
      <p:sp>
        <p:nvSpPr>
          <p:cNvPr id="23" name="TextBox 22"/>
          <p:cNvSpPr txBox="1"/>
          <p:nvPr/>
        </p:nvSpPr>
        <p:spPr>
          <a:xfrm>
            <a:off x="777240" y="3127248"/>
            <a:ext cx="10637215" cy="274320"/>
          </a:xfrm>
          <a:prstGeom prst="rect">
            <a:avLst/>
          </a:prstGeom>
          <a:noFill/>
        </p:spPr>
        <p:txBody>
          <a:bodyPr wrap="square" lIns="0" rIns="0" tIns="0" bIns="0">
            <a:spAutoFit/>
          </a:bodyPr>
          <a:lstStyle/>
          <a:p>
            <a:pPr algn="l">
              <a:lnSpc>
                <a:spcPct val="112000"/>
              </a:lnSpc>
              <a:spcBef>
                <a:spcPts val="0"/>
              </a:spcBef>
              <a:spcAft>
                <a:spcPts val="0"/>
              </a:spcAft>
            </a:pPr>
            <a:r>
              <a:rPr sz="1050" b="0" i="0">
                <a:solidFill>
                  <a:srgbClr val="606676"/>
                </a:solidFill>
                <a:latin typeface="Calibri"/>
              </a:rPr>
              <a:t>Each of the four has actually occurred on this build. Requests, tasks and controls are all compared; differences can be filtered by record type, and a check older than 15 minutes is flagged.</a:t>
            </a:r>
          </a:p>
        </p:txBody>
      </p:sp>
      <p:sp>
        <p:nvSpPr>
          <p:cNvPr id="24" name="TextBox 23"/>
          <p:cNvSpPr txBox="1"/>
          <p:nvPr/>
        </p:nvSpPr>
        <p:spPr>
          <a:xfrm>
            <a:off x="777240" y="3529584"/>
            <a:ext cx="10637215" cy="2414016"/>
          </a:xfrm>
          <a:prstGeom prst="rect">
            <a:avLst/>
          </a:prstGeom>
          <a:noFill/>
        </p:spPr>
        <p:txBody>
          <a:bodyPr wrap="square" lIns="0" rIns="0" tIns="0" bIns="0">
            <a:spAutoFit/>
          </a:bodyPr>
          <a:lstStyle/>
          <a:p>
            <a:pPr>
              <a:lnSpc>
                <a:spcPct val="122000"/>
              </a:lnSpc>
              <a:spcAft>
                <a:spcPts val="700"/>
              </a:spcAft>
            </a:pPr>
            <a:r>
              <a:rPr sz="1200" b="1">
                <a:solidFill>
                  <a:srgbClr val="0A3176"/>
                </a:solidFill>
                <a:latin typeface="Calibri"/>
              </a:rPr>
              <a:t>Repair only ever flows ServiceNow → Salesforce.  </a:t>
            </a:r>
            <a:r>
              <a:rPr sz="1200">
                <a:solidFill>
                  <a:srgbClr val="1A1A1A"/>
                </a:solidFill>
                <a:latin typeface="Calibri"/>
              </a:rPr>
              <a:t>A mirror that disagrees with the system of record is stale by definition, so there is nothing to negotiate. Unattended repair could turn a Salesforce problem into a ServiceNow one, so Re-sync is a button next to a difference someone is looking at.</a:t>
            </a:r>
          </a:p>
          <a:p>
            <a:pPr>
              <a:lnSpc>
                <a:spcPct val="122000"/>
              </a:lnSpc>
              <a:spcAft>
                <a:spcPts val="700"/>
              </a:spcAft>
            </a:pPr>
            <a:r>
              <a:rPr sz="1200" b="1">
                <a:solidFill>
                  <a:srgbClr val="0A3176"/>
                </a:solidFill>
                <a:latin typeface="Calibri"/>
              </a:rPr>
              <a:t>No cacheable=true, deliberately.  </a:t>
            </a:r>
            <a:r>
              <a:rPr sz="1200">
                <a:solidFill>
                  <a:srgbClr val="1A1A1A"/>
                </a:solidFill>
                <a:latin typeface="Calibri"/>
              </a:rPr>
              <a:t>An Apex method that makes a callout cannot be cacheable, so the component calls it imperatively — which is also what makes Re-check honest. It really does go and look.</a:t>
            </a:r>
          </a:p>
          <a:p>
            <a:pPr>
              <a:lnSpc>
                <a:spcPct val="122000"/>
              </a:lnSpc>
              <a:spcAft>
                <a:spcPts val="700"/>
              </a:spcAft>
            </a:pPr>
            <a:r>
              <a:rPr sz="1200" b="1">
                <a:solidFill>
                  <a:srgbClr val="0A3176"/>
                </a:solidFill>
                <a:latin typeface="Calibri"/>
              </a:rPr>
              <a:t>Blank equals null.  </a:t>
            </a:r>
            <a:r>
              <a:rPr sz="1200">
                <a:solidFill>
                  <a:srgbClr val="1A1A1A"/>
                </a:solidFill>
                <a:latin typeface="Calibri"/>
              </a:rPr>
              <a:t>ServiceNow returns null for an empty field and Salesforce may hold either. Treating them as different would report drift on every record with an empty approval, which is most of them.</a:t>
            </a:r>
          </a:p>
          <a:p>
            <a:pPr>
              <a:lnSpc>
                <a:spcPct val="122000"/>
              </a:lnSpc>
              <a:spcAft>
                <a:spcPts val="700"/>
              </a:spcAft>
            </a:pPr>
            <a:r>
              <a:rPr sz="1200" b="1">
                <a:solidFill>
                  <a:srgbClr val="0A3176"/>
                </a:solidFill>
                <a:latin typeface="Calibri"/>
              </a:rPr>
              <a:t>Requests and tasks are compared on status, state, approval, criteria and description — not Name.  </a:t>
            </a:r>
            <a:r>
              <a:rPr sz="1200">
                <a:solidFill>
                  <a:srgbClr val="1A1A1A"/>
                </a:solidFill>
                <a:latin typeface="Calibri"/>
              </a:rPr>
              <a:t>Controls are compared on name and active. A request or task Name edited in Salesforce stays invisible until the next push overwrites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Every callout logged, every limit configurable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One gateway for ServiceNow calls, a log that survives rollback, and settings that need no deploy.</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38528"/>
            <a:ext cx="1828800" cy="100584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38528"/>
            <a:ext cx="18288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029968"/>
            <a:ext cx="1627632" cy="841248"/>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CAF service
calls send()</a:t>
            </a:r>
          </a:p>
        </p:txBody>
      </p:sp>
      <p:sp>
        <p:nvSpPr>
          <p:cNvPr id="10" name="Right Arrow 9"/>
          <p:cNvSpPr/>
          <p:nvPr/>
        </p:nvSpPr>
        <p:spPr>
          <a:xfrm>
            <a:off x="2660904" y="2304288"/>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80944" y="1938528"/>
            <a:ext cx="1828800" cy="100584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80944" y="193852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81528" y="2029968"/>
            <a:ext cx="1627632" cy="841248"/>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onsolas"/>
              </a:rPr>
              <a:t>CafCallout
times the call,
holds the result</a:t>
            </a:r>
          </a:p>
        </p:txBody>
      </p:sp>
      <p:sp>
        <p:nvSpPr>
          <p:cNvPr id="14" name="Right Arrow 13"/>
          <p:cNvSpPr/>
          <p:nvPr/>
        </p:nvSpPr>
        <p:spPr>
          <a:xfrm>
            <a:off x="4864608" y="2304288"/>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84648" y="1938528"/>
            <a:ext cx="1828800" cy="100584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84648" y="193852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2" y="2029968"/>
            <a:ext cx="1627632" cy="841248"/>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onsolas"/>
              </a:rPr>
              <a:t>flush() publishes
CAF_Callout_Event__e</a:t>
            </a:r>
          </a:p>
        </p:txBody>
      </p:sp>
      <p:sp>
        <p:nvSpPr>
          <p:cNvPr id="18" name="Right Arrow 17"/>
          <p:cNvSpPr/>
          <p:nvPr/>
        </p:nvSpPr>
        <p:spPr>
          <a:xfrm>
            <a:off x="7068312" y="2304288"/>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88352" y="1938528"/>
            <a:ext cx="1828800" cy="100584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88352" y="1938528"/>
            <a:ext cx="1828800" cy="381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88936" y="2029968"/>
            <a:ext cx="1627632" cy="841248"/>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alibri"/>
              </a:rPr>
              <a:t>Trigger, own
transaction, as
Automated Process</a:t>
            </a:r>
          </a:p>
        </p:txBody>
      </p:sp>
      <p:sp>
        <p:nvSpPr>
          <p:cNvPr id="22" name="Right Arrow 21"/>
          <p:cNvSpPr/>
          <p:nvPr/>
        </p:nvSpPr>
        <p:spPr>
          <a:xfrm>
            <a:off x="9272016" y="2304288"/>
            <a:ext cx="265176" cy="274320"/>
          </a:xfrm>
          <a:prstGeom prst="rightArrow">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92056" y="1938528"/>
            <a:ext cx="1828800" cy="1005840"/>
          </a:xfrm>
          <a:prstGeom prst="rect">
            <a:avLst/>
          </a:prstGeom>
          <a:solidFill>
            <a:srgbClr val="F6F7F9"/>
          </a:solid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92056" y="1938528"/>
            <a:ext cx="1828800" cy="38100"/>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2029968"/>
            <a:ext cx="1627632" cy="841248"/>
          </a:xfrm>
          <a:prstGeom prst="rect">
            <a:avLst/>
          </a:prstGeom>
          <a:noFill/>
        </p:spPr>
        <p:txBody>
          <a:bodyPr wrap="square" lIns="0" rIns="0" tIns="0" bIns="0" anchor="ctr">
            <a:spAutoFit/>
          </a:bodyPr>
          <a:lstStyle/>
          <a:p>
            <a:pPr algn="ctr">
              <a:lnSpc>
                <a:spcPct val="114000"/>
              </a:lnSpc>
              <a:spcBef>
                <a:spcPts val="0"/>
              </a:spcBef>
              <a:spcAft>
                <a:spcPts val="0"/>
              </a:spcAft>
            </a:pPr>
            <a:r>
              <a:rPr sz="1000" b="0" i="0">
                <a:solidFill>
                  <a:srgbClr val="1A1A1A"/>
                </a:solidFill>
                <a:latin typeface="Consolas"/>
              </a:rPr>
              <a:t>CAF_Integration_Log__c
read by Admin
screen</a:t>
            </a:r>
          </a:p>
        </p:txBody>
      </p:sp>
      <p:sp>
        <p:nvSpPr>
          <p:cNvPr id="26" name="TextBox 25"/>
          <p:cNvSpPr txBox="1"/>
          <p:nvPr/>
        </p:nvSpPr>
        <p:spPr>
          <a:xfrm>
            <a:off x="777240" y="3200400"/>
            <a:ext cx="10637215" cy="2743200"/>
          </a:xfrm>
          <a:prstGeom prst="rect">
            <a:avLst/>
          </a:prstGeom>
          <a:noFill/>
        </p:spPr>
        <p:txBody>
          <a:bodyPr wrap="square" lIns="0" rIns="0" tIns="0" bIns="0">
            <a:spAutoFit/>
          </a:bodyPr>
          <a:lstStyle/>
          <a:p>
            <a:pPr>
              <a:lnSpc>
                <a:spcPct val="122000"/>
              </a:lnSpc>
              <a:spcAft>
                <a:spcPts val="900"/>
              </a:spcAft>
            </a:pPr>
            <a:r>
              <a:rPr sz="1250" b="1">
                <a:solidFill>
                  <a:srgbClr val="0A3176"/>
                </a:solidFill>
                <a:latin typeface="Calibri"/>
              </a:rPr>
              <a:t>Why a platform event, not an insert.  </a:t>
            </a:r>
            <a:r>
              <a:rPr sz="1250">
                <a:solidFill>
                  <a:srgbClr val="1A1A1A"/>
                </a:solidFill>
                <a:latin typeface="Calibri"/>
              </a:rPr>
              <a:t>Callers turn a ServiceNow failure into an AuraHandledException, which rolls the transaction back and would take a directly inserted log row with it. And Apex refuses a callout after uncommitted DML, so a row written after the first call would break any caller that makes a second.</a:t>
            </a:r>
          </a:p>
          <a:p>
            <a:pPr>
              <a:lnSpc>
                <a:spcPct val="122000"/>
              </a:lnSpc>
              <a:spcAft>
                <a:spcPts val="900"/>
              </a:spcAft>
            </a:pPr>
            <a:r>
              <a:rPr sz="1250" b="1">
                <a:solidFill>
                  <a:srgbClr val="0A3176"/>
                </a:solidFill>
                <a:latin typeface="Calibri"/>
              </a:rPr>
              <a:t>CAF_Setting__mdt, read through CafConfig.  </a:t>
            </a:r>
            <a:r>
              <a:rPr sz="1250">
                <a:solidFill>
                  <a:srgbClr val="1A1A1A"/>
                </a:solidFill>
                <a:latin typeface="Calibri"/>
              </a:rPr>
              <a:t>Task path, evidence cap (2 MB), callout timeout (120 s) and the logging switch, each with a code default and a ceiling, so a bad value cannot exceed the platform limit. The Admin screen shows each stored value beside the value actually in use.</a:t>
            </a:r>
          </a:p>
          <a:p>
            <a:pPr>
              <a:lnSpc>
                <a:spcPct val="122000"/>
              </a:lnSpc>
              <a:spcAft>
                <a:spcPts val="900"/>
              </a:spcAft>
            </a:pPr>
            <a:r>
              <a:rPr sz="1250" b="1">
                <a:solidFill>
                  <a:srgbClr val="0A3176"/>
                </a:solidFill>
                <a:latin typeface="Calibri"/>
              </a:rPr>
              <a:t>The log needs CAF_Admin.  </a:t>
            </a:r>
            <a:r>
              <a:rPr sz="1250">
                <a:solidFill>
                  <a:srgbClr val="1A1A1A"/>
                </a:solidFill>
                <a:latin typeface="Calibri"/>
              </a:rPr>
              <a:t>Read access on the log is granted by its own permission set, assigned in addition to CAF_Integration — an integration user does not need to read who called what.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Failure modes and operating limits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What breaks, how it presents, and what it costs.</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28800"/>
            <a:ext cx="10637215"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920240"/>
            <a:ext cx="2834640"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Condition</a:t>
            </a:r>
          </a:p>
        </p:txBody>
      </p:sp>
      <p:sp>
        <p:nvSpPr>
          <p:cNvPr id="9" name="TextBox 8"/>
          <p:cNvSpPr txBox="1"/>
          <p:nvPr/>
        </p:nvSpPr>
        <p:spPr>
          <a:xfrm>
            <a:off x="3922776" y="1920240"/>
            <a:ext cx="3566159"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How it presents</a:t>
            </a:r>
          </a:p>
        </p:txBody>
      </p:sp>
      <p:sp>
        <p:nvSpPr>
          <p:cNvPr id="10" name="TextBox 9"/>
          <p:cNvSpPr txBox="1"/>
          <p:nvPr/>
        </p:nvSpPr>
        <p:spPr>
          <a:xfrm>
            <a:off x="7671815" y="1920240"/>
            <a:ext cx="3687775" cy="274320"/>
          </a:xfrm>
          <a:prstGeom prst="rect">
            <a:avLst/>
          </a:prstGeom>
          <a:noFill/>
        </p:spPr>
        <p:txBody>
          <a:bodyPr wrap="square" lIns="0" rIns="0" tIns="0" bIns="0">
            <a:spAutoFit/>
          </a:bodyPr>
          <a:lstStyle/>
          <a:p>
            <a:pPr algn="l">
              <a:spcBef>
                <a:spcPts val="0"/>
              </a:spcBef>
              <a:spcAft>
                <a:spcPts val="0"/>
              </a:spcAft>
            </a:pPr>
            <a:r>
              <a:rPr sz="1100" b="1" i="0">
                <a:solidFill>
                  <a:srgbClr val="FFFFFF"/>
                </a:solidFill>
                <a:latin typeface="Calibri"/>
              </a:rPr>
              <a:t>What to do</a:t>
            </a:r>
          </a:p>
        </p:txBody>
      </p:sp>
      <p:sp>
        <p:nvSpPr>
          <p:cNvPr id="11" name="Rectangle 10"/>
          <p:cNvSpPr/>
          <p:nvPr/>
        </p:nvSpPr>
        <p:spPr>
          <a:xfrm>
            <a:off x="777240" y="2194560"/>
            <a:ext cx="10637215" cy="493776"/>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194560"/>
            <a:ext cx="2798064"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 push fails</a:t>
            </a:r>
          </a:p>
        </p:txBody>
      </p:sp>
      <p:sp>
        <p:nvSpPr>
          <p:cNvPr id="13" name="TextBox 12"/>
          <p:cNvSpPr txBox="1"/>
          <p:nvPr/>
        </p:nvSpPr>
        <p:spPr>
          <a:xfrm>
            <a:off x="3922776" y="2194560"/>
            <a:ext cx="3529583"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A81845"/>
                </a:solidFill>
                <a:latin typeface="Calibri"/>
              </a:rPr>
              <a:t>Nothing. Fire-and-forget — gs.error and return</a:t>
            </a:r>
          </a:p>
        </p:txBody>
      </p:sp>
      <p:sp>
        <p:nvSpPr>
          <p:cNvPr id="14" name="TextBox 13"/>
          <p:cNvSpPr txBox="1"/>
          <p:nvPr/>
        </p:nvSpPr>
        <p:spPr>
          <a:xfrm>
            <a:off x="7671815" y="2194560"/>
            <a:ext cx="3651199"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syslog, filtered on the object name. Sync Health is the safety net</a:t>
            </a:r>
          </a:p>
        </p:txBody>
      </p:sp>
      <p:sp>
        <p:nvSpPr>
          <p:cNvPr id="15" name="Rectangle 14"/>
          <p:cNvSpPr/>
          <p:nvPr/>
        </p:nvSpPr>
        <p:spPr>
          <a:xfrm>
            <a:off x="777240" y="2688336"/>
            <a:ext cx="10637215" cy="493776"/>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88336"/>
            <a:ext cx="2798064"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ServiceNow is down</a:t>
            </a:r>
          </a:p>
        </p:txBody>
      </p:sp>
      <p:sp>
        <p:nvSpPr>
          <p:cNvPr id="17" name="TextBox 16"/>
          <p:cNvSpPr txBox="1"/>
          <p:nvPr/>
        </p:nvSpPr>
        <p:spPr>
          <a:xfrm>
            <a:off x="3922776" y="2688336"/>
            <a:ext cx="3529583"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 failed action in the Salesforce UI</a:t>
            </a:r>
          </a:p>
        </p:txBody>
      </p:sp>
      <p:sp>
        <p:nvSpPr>
          <p:cNvPr id="18" name="TextBox 17"/>
          <p:cNvSpPr txBox="1"/>
          <p:nvPr/>
        </p:nvSpPr>
        <p:spPr>
          <a:xfrm>
            <a:off x="7671815" y="2688336"/>
            <a:ext cx="3651199"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Nothing is queued or retried. The failure is in CAF_Integration_Log__c</a:t>
            </a:r>
          </a:p>
        </p:txBody>
      </p:sp>
      <p:sp>
        <p:nvSpPr>
          <p:cNvPr id="19" name="Rectangle 18"/>
          <p:cNvSpPr/>
          <p:nvPr/>
        </p:nvSpPr>
        <p:spPr>
          <a:xfrm>
            <a:off x="777240" y="3182112"/>
            <a:ext cx="10637215" cy="493776"/>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82112"/>
            <a:ext cx="2798064"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 record is deleted</a:t>
            </a:r>
          </a:p>
        </p:txBody>
      </p:sp>
      <p:sp>
        <p:nvSpPr>
          <p:cNvPr id="21" name="TextBox 20"/>
          <p:cNvSpPr txBox="1"/>
          <p:nvPr/>
        </p:nvSpPr>
        <p:spPr>
          <a:xfrm>
            <a:off x="3922776" y="3182112"/>
            <a:ext cx="3529583"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An orphan on the other side, indefinitely</a:t>
            </a:r>
          </a:p>
        </p:txBody>
      </p:sp>
      <p:sp>
        <p:nvSpPr>
          <p:cNvPr id="22" name="TextBox 21"/>
          <p:cNvSpPr txBox="1"/>
          <p:nvPr/>
        </p:nvSpPr>
        <p:spPr>
          <a:xfrm>
            <a:off x="7671815" y="3182112"/>
            <a:ext cx="3651199"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Delete it there too. Controls are the exception and retire automatically</a:t>
            </a:r>
          </a:p>
        </p:txBody>
      </p:sp>
      <p:sp>
        <p:nvSpPr>
          <p:cNvPr id="23" name="Rectangle 22"/>
          <p:cNvSpPr/>
          <p:nvPr/>
        </p:nvSpPr>
        <p:spPr>
          <a:xfrm>
            <a:off x="777240" y="3675888"/>
            <a:ext cx="10637215" cy="493776"/>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675888"/>
            <a:ext cx="2798064"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Outbound must be stopped</a:t>
            </a:r>
          </a:p>
        </p:txBody>
      </p:sp>
      <p:sp>
        <p:nvSpPr>
          <p:cNvPr id="25" name="TextBox 24"/>
          <p:cNvSpPr txBox="1"/>
          <p:nvPr/>
        </p:nvSpPr>
        <p:spPr>
          <a:xfrm>
            <a:off x="3922776" y="3675888"/>
            <a:ext cx="3529583"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A1A1A"/>
                </a:solidFill>
                <a:latin typeface="Consolas"/>
              </a:rPr>
              <a:t>Set sf.enabled = false — the kill switch</a:t>
            </a:r>
          </a:p>
        </p:txBody>
      </p:sp>
      <p:sp>
        <p:nvSpPr>
          <p:cNvPr id="26" name="TextBox 25"/>
          <p:cNvSpPr txBox="1"/>
          <p:nvPr/>
        </p:nvSpPr>
        <p:spPr>
          <a:xfrm>
            <a:off x="7671815" y="3675888"/>
            <a:ext cx="3651199"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All pushes stop immediately. Confirm it is back to true afterwards</a:t>
            </a:r>
          </a:p>
        </p:txBody>
      </p:sp>
      <p:sp>
        <p:nvSpPr>
          <p:cNvPr id="27" name="Rectangle 26"/>
          <p:cNvSpPr/>
          <p:nvPr/>
        </p:nvSpPr>
        <p:spPr>
          <a:xfrm>
            <a:off x="777240" y="4169664"/>
            <a:ext cx="10637215" cy="493776"/>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4169664"/>
            <a:ext cx="2798064"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API budget</a:t>
            </a:r>
          </a:p>
        </p:txBody>
      </p:sp>
      <p:sp>
        <p:nvSpPr>
          <p:cNvPr id="29" name="TextBox 28"/>
          <p:cNvSpPr txBox="1"/>
          <p:nvPr/>
        </p:nvSpPr>
        <p:spPr>
          <a:xfrm>
            <a:off x="3922776" y="4169664"/>
            <a:ext cx="3529583"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15,000 inbound calls per 24 hours</a:t>
            </a:r>
          </a:p>
        </p:txBody>
      </p:sp>
      <p:sp>
        <p:nvSpPr>
          <p:cNvPr id="30" name="TextBox 29"/>
          <p:cNvSpPr txBox="1"/>
          <p:nvPr/>
        </p:nvSpPr>
        <p:spPr>
          <a:xfrm>
            <a:off x="7671815" y="4169664"/>
            <a:ext cx="3651199" cy="493776"/>
          </a:xfrm>
          <a:prstGeom prst="rect">
            <a:avLst/>
          </a:prstGeom>
          <a:noFill/>
        </p:spPr>
        <p:txBody>
          <a:bodyPr wrap="square" lIns="0" rIns="0" tIns="0" bIns="0" anchor="ctr">
            <a:spAutoFit/>
          </a:bodyPr>
          <a:lstStyle/>
          <a:p>
            <a:pPr algn="l">
              <a:lnSpc>
                <a:spcPct val="114000"/>
              </a:lnSpc>
              <a:spcBef>
                <a:spcPts val="0"/>
              </a:spcBef>
              <a:spcAft>
                <a:spcPts val="0"/>
              </a:spcAft>
            </a:pPr>
            <a:r>
              <a:rPr sz="1100" b="0" i="0">
                <a:solidFill>
                  <a:srgbClr val="1A1A1A"/>
                </a:solidFill>
                <a:latin typeface="Calibri"/>
              </a:rPr>
              <a:t>One end-to-end journey costs ~45. sf deploys draw on the same budget</a:t>
            </a:r>
          </a:p>
        </p:txBody>
      </p:sp>
      <p:sp>
        <p:nvSpPr>
          <p:cNvPr id="31" name="Rectangle 30"/>
          <p:cNvSpPr/>
          <p:nvPr/>
        </p:nvSpPr>
        <p:spPr>
          <a:xfrm>
            <a:off x="777240" y="4828032"/>
            <a:ext cx="10637215" cy="786384"/>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28032"/>
            <a:ext cx="44450" cy="786384"/>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956048"/>
            <a:ext cx="10180015" cy="603504"/>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A push is fire-and-forget because a Salesforce outage must not roll back the ServiceNow transaction that triggered it. That is the right trade — but it means a failed push exists only as a log line nobody reads, which is the entire reason Sync Health exists.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Traps already paid for</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Each of these cost a debugging round. All of them fail silently or name the wrong cause.</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828800"/>
            <a:ext cx="5135727" cy="36576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11096"/>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ServiceNow</a:t>
            </a:r>
          </a:p>
        </p:txBody>
      </p:sp>
      <p:sp>
        <p:nvSpPr>
          <p:cNvPr id="9" name="TextBox 8"/>
          <p:cNvSpPr txBox="1"/>
          <p:nvPr/>
        </p:nvSpPr>
        <p:spPr>
          <a:xfrm>
            <a:off x="960120" y="2340864"/>
            <a:ext cx="4788255" cy="3657600"/>
          </a:xfrm>
          <a:prstGeom prst="rect">
            <a:avLst/>
          </a:prstGeom>
          <a:noFill/>
        </p:spPr>
        <p:txBody>
          <a:bodyPr wrap="square" lIns="0" rIns="0" tIns="0" bIns="0">
            <a:spAutoFit/>
          </a:bodyPr>
          <a:lstStyle/>
          <a:p>
            <a:pPr marL="155448" indent="-155448">
              <a:lnSpc>
                <a:spcPct val="118000"/>
              </a:lnSpc>
              <a:spcAft>
                <a:spcPts val="700"/>
              </a:spcAft>
            </a:pPr>
            <a:r>
              <a:rPr sz="1050">
                <a:solidFill>
                  <a:srgbClr val="1A1A1A"/>
                </a:solidFill>
                <a:latin typeface="Calibri"/>
              </a:rPr>
              <a:t>·  getValue() on a boolean returns '1', not 'true' — the Table API's JSON says otherwise, and a check written from what a read shows refused every attestation.</a:t>
            </a:r>
          </a:p>
          <a:p>
            <a:pPr marL="155448" indent="-155448">
              <a:lnSpc>
                <a:spcPct val="118000"/>
              </a:lnSpc>
              <a:spcAft>
                <a:spcPts val="700"/>
              </a:spcAft>
            </a:pPr>
            <a:r>
              <a:rPr sz="1050">
                <a:solidFill>
                  <a:srgbClr val="1A1A1A"/>
                </a:solidFill>
                <a:latin typeface="Calibri"/>
              </a:rPr>
              <a:t>·  A read-only dictionary field is silently dropped by the Table API: HTTP 200, values echoed back, nothing written.</a:t>
            </a:r>
          </a:p>
          <a:p>
            <a:pPr marL="155448" indent="-155448">
              <a:lnSpc>
                <a:spcPct val="118000"/>
              </a:lnSpc>
              <a:spcAft>
                <a:spcPts val="700"/>
              </a:spcAft>
            </a:pPr>
            <a:r>
              <a:rPr sz="1050">
                <a:solidFill>
                  <a:srgbClr val="1A1A1A"/>
                </a:solidFill>
                <a:latin typeface="Calibri"/>
              </a:rPr>
              <a:t>·  Writing a field its existing value is a no-op and fires no business rule — indistinguishable at a glance from the above.</a:t>
            </a:r>
          </a:p>
          <a:p>
            <a:pPr marL="155448" indent="-155448">
              <a:lnSpc>
                <a:spcPct val="118000"/>
              </a:lnSpc>
              <a:spcAft>
                <a:spcPts val="700"/>
              </a:spcAft>
            </a:pPr>
            <a:r>
              <a:rPr sz="1050">
                <a:solidFill>
                  <a:srgbClr val="1A1A1A"/>
                </a:solidFill>
                <a:latin typeface="Calibri"/>
              </a:rPr>
              <a:t>·  Scripted REST wraps every response in result. Parsing the top level yields a one-key map and a null for every field.</a:t>
            </a:r>
          </a:p>
          <a:p>
            <a:pPr marL="155448" indent="-155448">
              <a:lnSpc>
                <a:spcPct val="118000"/>
              </a:lnSpc>
              <a:spcAft>
                <a:spcPts val="700"/>
              </a:spcAft>
            </a:pPr>
            <a:r>
              <a:rPr sz="1050">
                <a:solidFill>
                  <a:srgbClr val="1A1A1A"/>
                </a:solidFill>
                <a:latin typeface="Calibri"/>
              </a:rPr>
              <a:t>·  Non-ASCII in a JSON body is rejected with a 400 that names nothing.</a:t>
            </a:r>
          </a:p>
          <a:p>
            <a:pPr marL="155448" indent="-155448">
              <a:lnSpc>
                <a:spcPct val="118000"/>
              </a:lnSpc>
              <a:spcAft>
                <a:spcPts val="700"/>
              </a:spcAft>
            </a:pPr>
            <a:r>
              <a:rPr sz="1050">
                <a:solidFill>
                  <a:srgbClr val="1A1A1A"/>
                </a:solidFill>
                <a:latin typeface="Calibri"/>
              </a:rPr>
              <a:t>·  Server-side JS is Helsinki ES5 — no let, const, arrow functions or template literals. These fail at runtime, not at save time.</a:t>
            </a:r>
          </a:p>
        </p:txBody>
      </p:sp>
      <p:sp>
        <p:nvSpPr>
          <p:cNvPr id="10" name="Rectangle 9"/>
          <p:cNvSpPr/>
          <p:nvPr/>
        </p:nvSpPr>
        <p:spPr>
          <a:xfrm>
            <a:off x="6278727" y="1828800"/>
            <a:ext cx="5135727" cy="36576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607" y="1911096"/>
            <a:ext cx="5135727" cy="274320"/>
          </a:xfrm>
          <a:prstGeom prst="rect">
            <a:avLst/>
          </a:prstGeom>
          <a:noFill/>
        </p:spPr>
        <p:txBody>
          <a:bodyPr wrap="square" lIns="0" rIns="0" tIns="0" bIns="0">
            <a:spAutoFit/>
          </a:bodyPr>
          <a:lstStyle/>
          <a:p>
            <a:pPr algn="l">
              <a:spcBef>
                <a:spcPts val="0"/>
              </a:spcBef>
              <a:spcAft>
                <a:spcPts val="0"/>
              </a:spcAft>
            </a:pPr>
            <a:r>
              <a:rPr sz="1250" b="1" i="0">
                <a:solidFill>
                  <a:srgbClr val="FFFFFF"/>
                </a:solidFill>
                <a:latin typeface="Calibri"/>
              </a:rPr>
              <a:t>Salesforce</a:t>
            </a:r>
          </a:p>
        </p:txBody>
      </p:sp>
      <p:sp>
        <p:nvSpPr>
          <p:cNvPr id="12" name="TextBox 11"/>
          <p:cNvSpPr txBox="1"/>
          <p:nvPr/>
        </p:nvSpPr>
        <p:spPr>
          <a:xfrm>
            <a:off x="6461607" y="2340864"/>
            <a:ext cx="4788255" cy="3657600"/>
          </a:xfrm>
          <a:prstGeom prst="rect">
            <a:avLst/>
          </a:prstGeom>
          <a:noFill/>
        </p:spPr>
        <p:txBody>
          <a:bodyPr wrap="square" lIns="0" rIns="0" tIns="0" bIns="0">
            <a:spAutoFit/>
          </a:bodyPr>
          <a:lstStyle/>
          <a:p>
            <a:pPr marL="155448" indent="-155448">
              <a:lnSpc>
                <a:spcPct val="118000"/>
              </a:lnSpc>
              <a:spcAft>
                <a:spcPts val="700"/>
              </a:spcAft>
            </a:pPr>
            <a:r>
              <a:rPr sz="1050">
                <a:solidFill>
                  <a:srgbClr val="1A1A1A"/>
                </a:solidFill>
                <a:latin typeface="Calibri"/>
              </a:rPr>
              <a:t>·  Metadata-API-created objects need field-level security, a page layout entry, a list view with columns, and a tab — all four done by hand, each failing as an empty screen rather than an error.</a:t>
            </a:r>
          </a:p>
          <a:p>
            <a:pPr marL="155448" indent="-155448">
              <a:lnSpc>
                <a:spcPct val="118000"/>
              </a:lnSpc>
              <a:spcAft>
                <a:spcPts val="700"/>
              </a:spcAft>
            </a:pPr>
            <a:r>
              <a:rPr sz="1050">
                <a:solidFill>
                  <a:srgbClr val="1A1A1A"/>
                </a:solidFill>
                <a:latin typeface="Calibri"/>
              </a:rPr>
              <a:t>·  number is a reserved identifier in Apex. A class field named number will not compile.</a:t>
            </a:r>
          </a:p>
          <a:p>
            <a:pPr marL="155448" indent="-155448">
              <a:lnSpc>
                <a:spcPct val="118000"/>
              </a:lnSpc>
              <a:spcAft>
                <a:spcPts val="700"/>
              </a:spcAft>
            </a:pPr>
            <a:r>
              <a:rPr sz="1050">
                <a:solidFill>
                  <a:srgbClr val="1A1A1A"/>
                </a:solidFill>
                <a:latin typeface="Calibri"/>
              </a:rPr>
              <a:t>·  Apex cannot call out after DML in the same transaction.</a:t>
            </a:r>
          </a:p>
          <a:p>
            <a:pPr marL="155448" indent="-155448">
              <a:lnSpc>
                <a:spcPct val="118000"/>
              </a:lnSpc>
              <a:spcAft>
                <a:spcPts val="700"/>
              </a:spcAft>
            </a:pPr>
            <a:r>
              <a:rPr sz="1050">
                <a:solidFill>
                  <a:srgbClr val="1A1A1A"/>
                </a:solidFill>
                <a:latin typeface="Calibri"/>
              </a:rPr>
              <a:t>·  A lightningCommunity__Page targetConfig cannot contain property tags.</a:t>
            </a:r>
          </a:p>
          <a:p>
            <a:pPr marL="155448" indent="-155448">
              <a:lnSpc>
                <a:spcPct val="118000"/>
              </a:lnSpc>
              <a:spcAft>
                <a:spcPts val="700"/>
              </a:spcAft>
            </a:pPr>
            <a:r>
              <a:rPr sz="1050">
                <a:solidFill>
                  <a:srgbClr val="1A1A1A"/>
                </a:solidFill>
                <a:latin typeface="Calibri"/>
              </a:rPr>
              <a:t>·  The LWCs render into native shadow roots: Playwright's CSS engine pierces them, raw DOM traversal inside evaluate() does not.</a:t>
            </a:r>
          </a:p>
          <a:p>
            <a:pPr marL="155448" indent="-155448">
              <a:lnSpc>
                <a:spcPct val="118000"/>
              </a:lnSpc>
              <a:spcAft>
                <a:spcPts val="700"/>
              </a:spcAft>
            </a:pPr>
            <a:r>
              <a:rPr sz="1050">
                <a:solidFill>
                  <a:srgbClr val="1A1A1A"/>
                </a:solidFill>
                <a:latin typeface="Calibri"/>
              </a:rPr>
              <a:t>·  Basic auth to ServiceNow is restricted on this instance — sf.integration is exempt only because it is web-service-access-only. A new integration user will need the role.</a:t>
            </a:r>
          </a:p>
        </p:txBody>
      </p:sp>
      <p:sp>
        <p:nvSpPr>
          <p:cNvPr id="13" name="Rectangle 12"/>
          <p:cNvSpPr/>
          <p:nvPr/>
        </p:nvSpPr>
        <p:spPr>
          <a:xfrm>
            <a:off x="777240" y="5230368"/>
            <a:ext cx="10637215" cy="786384"/>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5230368"/>
            <a:ext cx="44450" cy="786384"/>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5358384"/>
            <a:ext cx="10180015" cy="603504"/>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The pattern is consistent enough to plan around: the platform returns success and does nothing. Almost none of these surfaces as an error, so the cost lands as debugging time rather than as a failed deploy — which is why they are written down rather than rediscovered.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Assurance — tested at three levels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Each level catches what the one below cannot, and every end-to-end case proves both platforms.</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01952"/>
            <a:ext cx="3362858" cy="21031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011680"/>
            <a:ext cx="2997098" cy="731520"/>
          </a:xfrm>
          <a:prstGeom prst="rect">
            <a:avLst/>
          </a:prstGeom>
          <a:noFill/>
        </p:spPr>
        <p:txBody>
          <a:bodyPr wrap="square" lIns="0" rIns="0" tIns="0" bIns="0">
            <a:spAutoFit/>
          </a:bodyPr>
          <a:lstStyle/>
          <a:p>
            <a:pPr algn="l">
              <a:spcBef>
                <a:spcPts val="0"/>
              </a:spcBef>
              <a:spcAft>
                <a:spcPts val="0"/>
              </a:spcAft>
            </a:pPr>
            <a:r>
              <a:rPr sz="4000" b="1" i="0">
                <a:solidFill>
                  <a:srgbClr val="0A3176"/>
                </a:solidFill>
                <a:latin typeface="Calibri"/>
              </a:rPr>
              <a:t>9</a:t>
            </a:r>
          </a:p>
        </p:txBody>
      </p:sp>
      <p:sp>
        <p:nvSpPr>
          <p:cNvPr id="9" name="TextBox 8"/>
          <p:cNvSpPr txBox="1"/>
          <p:nvPr/>
        </p:nvSpPr>
        <p:spPr>
          <a:xfrm>
            <a:off x="996696" y="2724912"/>
            <a:ext cx="2997098" cy="320040"/>
          </a:xfrm>
          <a:prstGeom prst="rect">
            <a:avLst/>
          </a:prstGeom>
          <a:noFill/>
        </p:spPr>
        <p:txBody>
          <a:bodyPr wrap="square" lIns="0" rIns="0" tIns="0" bIns="0">
            <a:spAutoFit/>
          </a:bodyPr>
          <a:lstStyle/>
          <a:p>
            <a:pPr algn="l">
              <a:spcBef>
                <a:spcPts val="0"/>
              </a:spcBef>
              <a:spcAft>
                <a:spcPts val="0"/>
              </a:spcAft>
            </a:pPr>
            <a:r>
              <a:rPr sz="1350" b="1" i="0">
                <a:solidFill>
                  <a:srgbClr val="000724"/>
                </a:solidFill>
                <a:latin typeface="Calibri"/>
              </a:rPr>
              <a:t>Apex test classes</a:t>
            </a:r>
          </a:p>
        </p:txBody>
      </p:sp>
      <p:sp>
        <p:nvSpPr>
          <p:cNvPr id="10" name="TextBox 9"/>
          <p:cNvSpPr txBox="1"/>
          <p:nvPr/>
        </p:nvSpPr>
        <p:spPr>
          <a:xfrm>
            <a:off x="996696" y="3072384"/>
            <a:ext cx="2997098" cy="8686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Every service and controller except CafSyncHealth. Mocked callouts, shared CafTestSupport fixtures.</a:t>
            </a:r>
          </a:p>
        </p:txBody>
      </p:sp>
      <p:sp>
        <p:nvSpPr>
          <p:cNvPr id="11" name="Rectangle 10"/>
          <p:cNvSpPr/>
          <p:nvPr/>
        </p:nvSpPr>
        <p:spPr>
          <a:xfrm>
            <a:off x="4414418" y="1901952"/>
            <a:ext cx="3362858" cy="21031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3874" y="2011680"/>
            <a:ext cx="2997098" cy="731520"/>
          </a:xfrm>
          <a:prstGeom prst="rect">
            <a:avLst/>
          </a:prstGeom>
          <a:noFill/>
        </p:spPr>
        <p:txBody>
          <a:bodyPr wrap="square" lIns="0" rIns="0" tIns="0" bIns="0">
            <a:spAutoFit/>
          </a:bodyPr>
          <a:lstStyle/>
          <a:p>
            <a:pPr algn="l">
              <a:spcBef>
                <a:spcPts val="0"/>
              </a:spcBef>
              <a:spcAft>
                <a:spcPts val="0"/>
              </a:spcAft>
            </a:pPr>
            <a:r>
              <a:rPr sz="4000" b="1" i="0">
                <a:solidFill>
                  <a:srgbClr val="0A3176"/>
                </a:solidFill>
                <a:latin typeface="Calibri"/>
              </a:rPr>
              <a:t>115</a:t>
            </a:r>
          </a:p>
        </p:txBody>
      </p:sp>
      <p:sp>
        <p:nvSpPr>
          <p:cNvPr id="13" name="TextBox 12"/>
          <p:cNvSpPr txBox="1"/>
          <p:nvPr/>
        </p:nvSpPr>
        <p:spPr>
          <a:xfrm>
            <a:off x="4633874" y="2724912"/>
            <a:ext cx="2997098" cy="320040"/>
          </a:xfrm>
          <a:prstGeom prst="rect">
            <a:avLst/>
          </a:prstGeom>
          <a:noFill/>
        </p:spPr>
        <p:txBody>
          <a:bodyPr wrap="square" lIns="0" rIns="0" tIns="0" bIns="0">
            <a:spAutoFit/>
          </a:bodyPr>
          <a:lstStyle/>
          <a:p>
            <a:pPr algn="l">
              <a:spcBef>
                <a:spcPts val="0"/>
              </a:spcBef>
              <a:spcAft>
                <a:spcPts val="0"/>
              </a:spcAft>
            </a:pPr>
            <a:r>
              <a:rPr sz="1350" b="1" i="0">
                <a:solidFill>
                  <a:srgbClr val="000724"/>
                </a:solidFill>
                <a:latin typeface="Calibri"/>
              </a:rPr>
              <a:t>offline unit cases</a:t>
            </a:r>
          </a:p>
        </p:txBody>
      </p:sp>
      <p:sp>
        <p:nvSpPr>
          <p:cNvPr id="14" name="TextBox 13"/>
          <p:cNvSpPr txBox="1"/>
          <p:nvPr/>
        </p:nvSpPr>
        <p:spPr>
          <a:xfrm>
            <a:off x="4633874" y="3072384"/>
            <a:ext cx="2997098" cy="8686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Jest suites for 7 LWCs plus the harness preflight. No org, no instance, no credentials — seconds to run.</a:t>
            </a:r>
          </a:p>
        </p:txBody>
      </p:sp>
      <p:sp>
        <p:nvSpPr>
          <p:cNvPr id="15" name="Rectangle 14"/>
          <p:cNvSpPr/>
          <p:nvPr/>
        </p:nvSpPr>
        <p:spPr>
          <a:xfrm>
            <a:off x="8051596" y="1901952"/>
            <a:ext cx="3362858" cy="21031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1052" y="2011680"/>
            <a:ext cx="2997098" cy="731520"/>
          </a:xfrm>
          <a:prstGeom prst="rect">
            <a:avLst/>
          </a:prstGeom>
          <a:noFill/>
        </p:spPr>
        <p:txBody>
          <a:bodyPr wrap="square" lIns="0" rIns="0" tIns="0" bIns="0">
            <a:spAutoFit/>
          </a:bodyPr>
          <a:lstStyle/>
          <a:p>
            <a:pPr algn="l">
              <a:spcBef>
                <a:spcPts val="0"/>
              </a:spcBef>
              <a:spcAft>
                <a:spcPts val="0"/>
              </a:spcAft>
            </a:pPr>
            <a:r>
              <a:rPr sz="4000" b="1" i="0">
                <a:solidFill>
                  <a:srgbClr val="0A3176"/>
                </a:solidFill>
                <a:latin typeface="Calibri"/>
              </a:rPr>
              <a:t>139</a:t>
            </a:r>
          </a:p>
        </p:txBody>
      </p:sp>
      <p:sp>
        <p:nvSpPr>
          <p:cNvPr id="17" name="TextBox 16"/>
          <p:cNvSpPr txBox="1"/>
          <p:nvPr/>
        </p:nvSpPr>
        <p:spPr>
          <a:xfrm>
            <a:off x="8271052" y="2724912"/>
            <a:ext cx="2997098" cy="320040"/>
          </a:xfrm>
          <a:prstGeom prst="rect">
            <a:avLst/>
          </a:prstGeom>
          <a:noFill/>
        </p:spPr>
        <p:txBody>
          <a:bodyPr wrap="square" lIns="0" rIns="0" tIns="0" bIns="0">
            <a:spAutoFit/>
          </a:bodyPr>
          <a:lstStyle/>
          <a:p>
            <a:pPr algn="l">
              <a:spcBef>
                <a:spcPts val="0"/>
              </a:spcBef>
              <a:spcAft>
                <a:spcPts val="0"/>
              </a:spcAft>
            </a:pPr>
            <a:r>
              <a:rPr sz="1350" b="1" i="0">
                <a:solidFill>
                  <a:srgbClr val="000724"/>
                </a:solidFill>
                <a:latin typeface="Calibri"/>
              </a:rPr>
              <a:t>end-to-end cases</a:t>
            </a:r>
          </a:p>
        </p:txBody>
      </p:sp>
      <p:sp>
        <p:nvSpPr>
          <p:cNvPr id="18" name="TextBox 17"/>
          <p:cNvSpPr txBox="1"/>
          <p:nvPr/>
        </p:nvSpPr>
        <p:spPr>
          <a:xfrm>
            <a:off x="8271052" y="3072384"/>
            <a:ext cx="2997098" cy="868680"/>
          </a:xfrm>
          <a:prstGeom prst="rect">
            <a:avLst/>
          </a:prstGeom>
          <a:noFill/>
        </p:spPr>
        <p:txBody>
          <a:bodyPr wrap="square" lIns="0" rIns="0" tIns="0" bIns="0">
            <a:spAutoFit/>
          </a:bodyPr>
          <a:lstStyle/>
          <a:p>
            <a:pPr algn="l">
              <a:lnSpc>
                <a:spcPct val="120000"/>
              </a:lnSpc>
              <a:spcBef>
                <a:spcPts val="0"/>
              </a:spcBef>
              <a:spcAft>
                <a:spcPts val="0"/>
              </a:spcAft>
            </a:pPr>
            <a:r>
              <a:rPr sz="1100" b="0" i="0">
                <a:solidFill>
                  <a:srgbClr val="1A1A1A"/>
                </a:solidFill>
                <a:latin typeface="Calibri"/>
              </a:rPr>
              <a:t>70 integration and 69 ServiceNow cases, driven by Playwright against both live systems.</a:t>
            </a:r>
          </a:p>
        </p:txBody>
      </p:sp>
      <p:sp>
        <p:nvSpPr>
          <p:cNvPr id="19" name="TextBox 18"/>
          <p:cNvSpPr txBox="1"/>
          <p:nvPr/>
        </p:nvSpPr>
        <p:spPr>
          <a:xfrm>
            <a:off x="777240" y="4224528"/>
            <a:ext cx="10637215" cy="1719072"/>
          </a:xfrm>
          <a:prstGeom prst="rect">
            <a:avLst/>
          </a:prstGeom>
          <a:noFill/>
        </p:spPr>
        <p:txBody>
          <a:bodyPr wrap="square" lIns="0" rIns="0" tIns="0" bIns="0">
            <a:spAutoFit/>
          </a:bodyPr>
          <a:lstStyle/>
          <a:p>
            <a:pPr>
              <a:lnSpc>
                <a:spcPct val="122000"/>
              </a:lnSpc>
              <a:spcAft>
                <a:spcPts val="900"/>
              </a:spcAft>
            </a:pPr>
            <a:r>
              <a:rPr sz="1250" b="1">
                <a:solidFill>
                  <a:srgbClr val="0A3176"/>
                </a:solidFill>
                <a:latin typeface="Calibri"/>
              </a:rPr>
              <a:t>Two proofs per case.  </a:t>
            </a:r>
            <a:r>
              <a:rPr sz="1250">
                <a:solidFill>
                  <a:srgbClr val="1A1A1A"/>
                </a:solidFill>
                <a:latin typeface="Calibri"/>
              </a:rPr>
              <a:t>What the screen showed and what the record holds. A green toast proves a form submitted, not that a business rule ran — and this architecture's characteristic failure is the two platforms disagreeing.</a:t>
            </a:r>
          </a:p>
          <a:p>
            <a:pPr>
              <a:lnSpc>
                <a:spcPct val="122000"/>
              </a:lnSpc>
              <a:spcAft>
                <a:spcPts val="900"/>
              </a:spcAft>
            </a:pPr>
            <a:r>
              <a:rPr sz="1250" b="1">
                <a:solidFill>
                  <a:srgbClr val="0A3176"/>
                </a:solidFill>
                <a:latin typeface="Calibri"/>
              </a:rPr>
              <a:t>Unit tests pin the defects the live runs found.  </a:t>
            </a:r>
            <a:r>
              <a:rPr sz="1250">
                <a:solidFill>
                  <a:srgbClr val="1A1A1A"/>
                </a:solidFill>
                <a:latin typeface="Calibri"/>
              </a:rPr>
              <a:t>The evidence-mismatch advice (TC-INT-071) now branches on which side is short, and TC-UNIT-002 fails against the pre-fix code, so the regression shows up in seconds rather than on the next live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a production move would require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5" name="TextBox 4"/>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6" name="Rectangle 5"/>
          <p:cNvSpPr/>
          <p:nvPr/>
        </p:nvSpPr>
        <p:spPr>
          <a:xfrm>
            <a:off x="777240" y="1481328"/>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63624"/>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1</a:t>
            </a:r>
          </a:p>
        </p:txBody>
      </p:sp>
      <p:sp>
        <p:nvSpPr>
          <p:cNvPr id="8" name="TextBox 7"/>
          <p:cNvSpPr txBox="1"/>
          <p:nvPr/>
        </p:nvSpPr>
        <p:spPr>
          <a:xfrm>
            <a:off x="1399032" y="1499616"/>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Test coverage for CafSyncHealth.</a:t>
            </a:r>
          </a:p>
          <a:p>
            <a:pPr algn="l">
              <a:lnSpc>
                <a:spcPct val="120000"/>
              </a:lnSpc>
              <a:spcBef>
                <a:spcPts val="300"/>
              </a:spcBef>
              <a:spcAft>
                <a:spcPts val="0"/>
              </a:spcAft>
            </a:pPr>
            <a:r>
              <a:rPr sz="1250" b="0" i="0">
                <a:solidFill>
                  <a:srgbClr val="1A1A1A"/>
                </a:solidFill>
                <a:latin typeface="Calibri"/>
              </a:rPr>
              <a:t>Every other Apex class now has one. Salesforce requires 75% coverage to deploy — a hard gate, not a preference.</a:t>
            </a:r>
          </a:p>
        </p:txBody>
      </p:sp>
      <p:sp>
        <p:nvSpPr>
          <p:cNvPr id="9" name="Rectangle 8"/>
          <p:cNvSpPr/>
          <p:nvPr/>
        </p:nvSpPr>
        <p:spPr>
          <a:xfrm>
            <a:off x="777240" y="2468880"/>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51176"/>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2</a:t>
            </a:r>
          </a:p>
        </p:txBody>
      </p:sp>
      <p:sp>
        <p:nvSpPr>
          <p:cNvPr id="11" name="TextBox 10"/>
          <p:cNvSpPr txBox="1"/>
          <p:nvPr/>
        </p:nvSpPr>
        <p:spPr>
          <a:xfrm>
            <a:off x="1399032" y="2487168"/>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Queued delivery.</a:t>
            </a:r>
          </a:p>
          <a:p>
            <a:pPr algn="l">
              <a:lnSpc>
                <a:spcPct val="120000"/>
              </a:lnSpc>
              <a:spcBef>
                <a:spcPts val="300"/>
              </a:spcBef>
              <a:spcAft>
                <a:spcPts val="0"/>
              </a:spcAft>
            </a:pPr>
            <a:r>
              <a:rPr sz="1250" b="0" i="0">
                <a:solidFill>
                  <a:srgbClr val="1A1A1A"/>
                </a:solidFill>
                <a:latin typeface="Calibri"/>
              </a:rPr>
              <a:t>A Platform Event now carries the callout log, but calls are still synchronous: a ServiceNow outage fails the action and nothing retries.</a:t>
            </a:r>
          </a:p>
        </p:txBody>
      </p:sp>
      <p:sp>
        <p:nvSpPr>
          <p:cNvPr id="12" name="Rectangle 11"/>
          <p:cNvSpPr/>
          <p:nvPr/>
        </p:nvSpPr>
        <p:spPr>
          <a:xfrm>
            <a:off x="777240" y="3456432"/>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538728"/>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3</a:t>
            </a:r>
          </a:p>
        </p:txBody>
      </p:sp>
      <p:sp>
        <p:nvSpPr>
          <p:cNvPr id="14" name="TextBox 13"/>
          <p:cNvSpPr txBox="1"/>
          <p:nvPr/>
        </p:nvSpPr>
        <p:spPr>
          <a:xfrm>
            <a:off x="1399032" y="3474720"/>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JWT bearer, replacing Client Credentials.</a:t>
            </a:r>
          </a:p>
          <a:p>
            <a:pPr algn="l">
              <a:lnSpc>
                <a:spcPct val="120000"/>
              </a:lnSpc>
              <a:spcBef>
                <a:spcPts val="300"/>
              </a:spcBef>
              <a:spcAft>
                <a:spcPts val="0"/>
              </a:spcAft>
            </a:pPr>
            <a:r>
              <a:rPr sz="1250" b="0" i="0">
                <a:solidFill>
                  <a:srgbClr val="1A1A1A"/>
                </a:solidFill>
                <a:latin typeface="Calibri"/>
              </a:rPr>
              <a:t>Recorded as a deviation rather than a decision. It needs a custom JWT API Script on the ServiceNow side; the keypair already exists and is unused.</a:t>
            </a:r>
          </a:p>
        </p:txBody>
      </p:sp>
      <p:sp>
        <p:nvSpPr>
          <p:cNvPr id="15" name="Rectangle 14"/>
          <p:cNvSpPr/>
          <p:nvPr/>
        </p:nvSpPr>
        <p:spPr>
          <a:xfrm>
            <a:off x="777240" y="4443984"/>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526280"/>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4</a:t>
            </a:r>
          </a:p>
        </p:txBody>
      </p:sp>
      <p:sp>
        <p:nvSpPr>
          <p:cNvPr id="17" name="TextBox 16"/>
          <p:cNvSpPr txBox="1"/>
          <p:nvPr/>
        </p:nvSpPr>
        <p:spPr>
          <a:xfrm>
            <a:off x="1399032" y="4462272"/>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A named approver, and the security model.</a:t>
            </a:r>
          </a:p>
          <a:p>
            <a:pPr algn="l">
              <a:lnSpc>
                <a:spcPct val="120000"/>
              </a:lnSpc>
              <a:spcBef>
                <a:spcPts val="300"/>
              </a:spcBef>
              <a:spcAft>
                <a:spcPts val="0"/>
              </a:spcAft>
            </a:pPr>
            <a:r>
              <a:rPr sz="1250" b="0" i="0">
                <a:solidFill>
                  <a:srgbClr val="1A1A1A"/>
                </a:solidFill>
                <a:latin typeface="Calibri"/>
              </a:rPr>
              <a:t>Attestation uses the approval field alone, so whoever presses the button is the approver. Row-level security was deliberately deferred for the proof of concept.</a:t>
            </a:r>
          </a:p>
        </p:txBody>
      </p:sp>
      <p:sp>
        <p:nvSpPr>
          <p:cNvPr id="18" name="Rectangle 17"/>
          <p:cNvSpPr/>
          <p:nvPr/>
        </p:nvSpPr>
        <p:spPr>
          <a:xfrm>
            <a:off x="777240" y="5504688"/>
            <a:ext cx="10637215" cy="566928"/>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504688"/>
            <a:ext cx="44450" cy="566928"/>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632704"/>
            <a:ext cx="10180015" cy="384048"/>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None of these is engine work. The compliance engine is unchanged and stays unchanged — everything above is delivery around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