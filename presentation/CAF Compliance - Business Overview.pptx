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yan-logo.png"/>
          <p:cNvPicPr>
            <a:picLocks noChangeAspect="1"/>
          </p:cNvPicPr>
          <p:nvPr/>
        </p:nvPicPr>
        <p:blipFill>
          <a:blip r:embed="rId2"/>
          <a:stretch>
            <a:fillRect/>
          </a:stretch>
        </p:blipFill>
        <p:spPr>
          <a:xfrm>
            <a:off x="777240" y="640080"/>
            <a:ext cx="1554480" cy="801529"/>
          </a:xfrm>
          <a:prstGeom prst="rect">
            <a:avLst/>
          </a:prstGeom>
        </p:spPr>
      </p:pic>
      <p:sp>
        <p:nvSpPr>
          <p:cNvPr id="5" name="TextBox 4"/>
          <p:cNvSpPr txBox="1"/>
          <p:nvPr/>
        </p:nvSpPr>
        <p:spPr>
          <a:xfrm>
            <a:off x="777240" y="2331720"/>
            <a:ext cx="9692640" cy="2011680"/>
          </a:xfrm>
          <a:prstGeom prst="rect">
            <a:avLst/>
          </a:prstGeom>
          <a:noFill/>
        </p:spPr>
        <p:txBody>
          <a:bodyPr wrap="square" lIns="0" rIns="0" tIns="0" bIns="0">
            <a:spAutoFit/>
          </a:bodyPr>
          <a:lstStyle/>
          <a:p>
            <a:pPr algn="l">
              <a:spcBef>
                <a:spcPts val="0"/>
              </a:spcBef>
              <a:spcAft>
                <a:spcPts val="0"/>
              </a:spcAft>
            </a:pPr>
            <a:r>
              <a:rPr sz="5400" b="1" i="0">
                <a:solidFill>
                  <a:srgbClr val="FFFFFF"/>
                </a:solidFill>
                <a:latin typeface="Calibri"/>
              </a:rPr>
              <a:t>CAF Compliance</a:t>
            </a:r>
          </a:p>
          <a:p>
            <a:pPr algn="l">
              <a:lnSpc>
                <a:spcPct val="120000"/>
              </a:lnSpc>
              <a:spcBef>
                <a:spcPts val="1000"/>
              </a:spcBef>
              <a:spcAft>
                <a:spcPts val="0"/>
              </a:spcAft>
            </a:pPr>
            <a:r>
              <a:rPr sz="2100" b="0" i="0">
                <a:solidFill>
                  <a:srgbClr val="A8B4CC"/>
                </a:solidFill>
                <a:latin typeface="Calibri"/>
              </a:rPr>
              <a:t>Compliance attestation, delivered where the business already works</a:t>
            </a:r>
          </a:p>
        </p:txBody>
      </p:sp>
      <p:sp>
        <p:nvSpPr>
          <p:cNvPr id="6" name="Rectangle 5"/>
          <p:cNvSpPr/>
          <p:nvPr/>
        </p:nvSpPr>
        <p:spPr>
          <a:xfrm>
            <a:off x="777240" y="4224528"/>
            <a:ext cx="201168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526280"/>
            <a:ext cx="9692640" cy="1005840"/>
          </a:xfrm>
          <a:prstGeom prst="rect">
            <a:avLst/>
          </a:prstGeom>
          <a:noFill/>
        </p:spPr>
        <p:txBody>
          <a:bodyPr wrap="square" lIns="0" rIns="0" tIns="0" bIns="0">
            <a:spAutoFit/>
          </a:bodyPr>
          <a:lstStyle/>
          <a:p>
            <a:pPr algn="l">
              <a:spcBef>
                <a:spcPts val="0"/>
              </a:spcBef>
              <a:spcAft>
                <a:spcPts val="0"/>
              </a:spcAft>
            </a:pPr>
            <a:r>
              <a:rPr sz="1500" b="0" i="0">
                <a:solidFill>
                  <a:srgbClr val="FFFFFF"/>
                </a:solidFill>
                <a:latin typeface="Calibri"/>
              </a:rPr>
              <a:t>Salesforce engagement layer  ·  ServiceNow compliance engine</a:t>
            </a:r>
          </a:p>
          <a:p>
            <a:pPr algn="l">
              <a:spcBef>
                <a:spcPts val="700"/>
              </a:spcBef>
              <a:spcAft>
                <a:spcPts val="0"/>
              </a:spcAft>
            </a:pPr>
            <a:r>
              <a:rPr sz="1300" b="0" i="0">
                <a:solidFill>
                  <a:srgbClr val="A8B4CC"/>
                </a:solidFill>
                <a:latin typeface="Calibri"/>
              </a:rPr>
              <a:t>Proof of concept — decision brief</a:t>
            </a:r>
          </a:p>
        </p:txBody>
      </p:sp>
      <p:sp>
        <p:nvSpPr>
          <p:cNvPr id="8" name="TextBox 7"/>
          <p:cNvSpPr txBox="1"/>
          <p:nvPr/>
        </p:nvSpPr>
        <p:spPr>
          <a:xfrm>
            <a:off x="777240" y="5989320"/>
            <a:ext cx="9692640" cy="365760"/>
          </a:xfrm>
          <a:prstGeom prst="rect">
            <a:avLst/>
          </a:prstGeom>
          <a:noFill/>
        </p:spPr>
        <p:txBody>
          <a:bodyPr wrap="square" lIns="0" rIns="0" tIns="0" bIns="0">
            <a:spAutoFit/>
          </a:bodyPr>
          <a:lstStyle/>
          <a:p>
            <a:pPr algn="l">
              <a:spcBef>
                <a:spcPts val="0"/>
              </a:spcBef>
              <a:spcAft>
                <a:spcPts val="0"/>
              </a:spcAft>
            </a:pPr>
            <a:r>
              <a:rPr sz="900" b="0" i="0">
                <a:solidFill>
                  <a:srgbClr val="A8B4CC"/>
                </a:solidFill>
                <a:latin typeface="Calibri"/>
              </a:rPr>
              <a:t>Confidential — prepared by Reyan Technologies. Not for redistribution without written consent.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The engine works. The engagement doesn't.</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CAF governs recurring compliance of critical business applications — backup and restore, disaster recovery, RTO and RPO, high availability.</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TextBox 6"/>
          <p:cNvSpPr txBox="1"/>
          <p:nvPr/>
        </p:nvSpPr>
        <p:spPr>
          <a:xfrm>
            <a:off x="777240" y="2139696"/>
            <a:ext cx="10637215" cy="3803904"/>
          </a:xfrm>
          <a:prstGeom prst="rect">
            <a:avLst/>
          </a:prstGeom>
          <a:noFill/>
        </p:spPr>
        <p:txBody>
          <a:bodyPr wrap="square" lIns="0" rIns="0" tIns="0" bIns="0">
            <a:spAutoFit/>
          </a:bodyPr>
          <a:lstStyle/>
          <a:p>
            <a:pPr>
              <a:lnSpc>
                <a:spcPct val="122000"/>
              </a:lnSpc>
              <a:spcAft>
                <a:spcPts val="1100"/>
              </a:spcAft>
            </a:pPr>
            <a:r>
              <a:rPr sz="1400" b="1">
                <a:solidFill>
                  <a:srgbClr val="0A3176"/>
                </a:solidFill>
                <a:latin typeface="Calibri"/>
              </a:rPr>
              <a:t>The control framework is sound.  </a:t>
            </a:r>
            <a:r>
              <a:rPr sz="1400">
                <a:solidFill>
                  <a:srgbClr val="1A1A1A"/>
                </a:solidFill>
                <a:latin typeface="Calibri"/>
              </a:rPr>
              <a:t>Controls, recurrence, overdue detection, approvals and the audit trail all run today in ServiceNow. Nothing about that needs to change.</a:t>
            </a:r>
          </a:p>
          <a:p>
            <a:pPr>
              <a:lnSpc>
                <a:spcPct val="122000"/>
              </a:lnSpc>
              <a:spcAft>
                <a:spcPts val="1100"/>
              </a:spcAft>
            </a:pPr>
            <a:r>
              <a:rPr sz="1400" b="1">
                <a:solidFill>
                  <a:srgbClr val="0A3176"/>
                </a:solidFill>
                <a:latin typeface="Calibri"/>
              </a:rPr>
              <a:t>The cost scales with participation, not with work.  </a:t>
            </a:r>
            <a:r>
              <a:rPr sz="1400">
                <a:solidFill>
                  <a:srgbClr val="1A1A1A"/>
                </a:solidFill>
                <a:latin typeface="Calibri"/>
              </a:rPr>
              <a:t>Every application owner and delegate approver who touches CAF needs a ServiceNow fulfiller licence — so the more people we ask to attest, the more it costs to let them.</a:t>
            </a:r>
          </a:p>
          <a:p>
            <a:pPr>
              <a:lnSpc>
                <a:spcPct val="122000"/>
              </a:lnSpc>
              <a:spcAft>
                <a:spcPts val="1100"/>
              </a:spcAft>
            </a:pPr>
            <a:r>
              <a:rPr sz="1400" b="1">
                <a:solidFill>
                  <a:srgbClr val="0A3176"/>
                </a:solidFill>
                <a:latin typeface="Calibri"/>
              </a:rPr>
              <a:t>Adoption is the named risk.  </a:t>
            </a:r>
            <a:r>
              <a:rPr sz="1400">
                <a:solidFill>
                  <a:srgbClr val="1A1A1A"/>
                </a:solidFill>
                <a:latin typeface="Calibri"/>
              </a:rPr>
              <a:t>Low portal adoption is already on the risk register. “I'm not logging into ServiceNow for this” is the whole problem in one sentence, and no amount of engine work fixes it.</a:t>
            </a:r>
          </a:p>
        </p:txBody>
      </p:sp>
      <p:sp>
        <p:nvSpPr>
          <p:cNvPr id="8" name="Rectangle 7"/>
          <p:cNvSpPr/>
          <p:nvPr/>
        </p:nvSpPr>
        <p:spPr>
          <a:xfrm>
            <a:off x="777240" y="4370832"/>
            <a:ext cx="10637215" cy="7132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370832"/>
            <a:ext cx="44450" cy="713232"/>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4498848"/>
            <a:ext cx="10180015" cy="530352"/>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Compliance fails at the last mile — not because the rules are wrong, but because the people who must attest to them don't live in the tool that 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One product. Two platforms. One system of record.</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5" name="TextBox 4"/>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6" name="Rectangle 5"/>
          <p:cNvSpPr/>
          <p:nvPr/>
        </p:nvSpPr>
        <p:spPr>
          <a:xfrm>
            <a:off x="777240" y="1389888"/>
            <a:ext cx="10637215" cy="7132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389888"/>
            <a:ext cx="44450" cy="713232"/>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517904"/>
            <a:ext cx="10180015" cy="530352"/>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The state machine and the system of record stay in ServiceNow. Salesforce holds a mirror, never a second opinion.</a:t>
            </a:r>
          </a:p>
        </p:txBody>
      </p:sp>
      <p:sp>
        <p:nvSpPr>
          <p:cNvPr id="9" name="Rectangle 8"/>
          <p:cNvSpPr/>
          <p:nvPr/>
        </p:nvSpPr>
        <p:spPr>
          <a:xfrm>
            <a:off x="777240" y="2432304"/>
            <a:ext cx="5135727" cy="384048"/>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523744"/>
            <a:ext cx="5135727" cy="274320"/>
          </a:xfrm>
          <a:prstGeom prst="rect">
            <a:avLst/>
          </a:prstGeom>
          <a:noFill/>
        </p:spPr>
        <p:txBody>
          <a:bodyPr wrap="square" lIns="0" rIns="0" tIns="0" bIns="0">
            <a:spAutoFit/>
          </a:bodyPr>
          <a:lstStyle/>
          <a:p>
            <a:pPr algn="l">
              <a:spcBef>
                <a:spcPts val="0"/>
              </a:spcBef>
              <a:spcAft>
                <a:spcPts val="0"/>
              </a:spcAft>
            </a:pPr>
            <a:r>
              <a:rPr sz="1350" b="1" i="0">
                <a:solidFill>
                  <a:srgbClr val="FFFFFF"/>
                </a:solidFill>
                <a:latin typeface="Calibri"/>
              </a:rPr>
              <a:t>ServiceNow owns</a:t>
            </a:r>
          </a:p>
        </p:txBody>
      </p:sp>
      <p:sp>
        <p:nvSpPr>
          <p:cNvPr id="11" name="TextBox 10"/>
          <p:cNvSpPr txBox="1"/>
          <p:nvPr/>
        </p:nvSpPr>
        <p:spPr>
          <a:xfrm>
            <a:off x="978408" y="2944368"/>
            <a:ext cx="4769967" cy="2377440"/>
          </a:xfrm>
          <a:prstGeom prst="rect">
            <a:avLst/>
          </a:prstGeom>
          <a:noFill/>
        </p:spPr>
        <p:txBody>
          <a:bodyPr wrap="square" lIns="0" rIns="0" tIns="0" bIns="0">
            <a:spAutoFit/>
          </a:bodyPr>
          <a:lstStyle/>
          <a:p>
            <a:pPr marL="155448" indent="-155448">
              <a:spcAft>
                <a:spcPts val="800"/>
              </a:spcAft>
            </a:pPr>
            <a:r>
              <a:rPr sz="1250">
                <a:solidFill>
                  <a:srgbClr val="1A1A1A"/>
                </a:solidFill>
                <a:latin typeface="Calibri"/>
              </a:rPr>
              <a:t>·  Controls, relationships, task templates</a:t>
            </a:r>
          </a:p>
          <a:p>
            <a:pPr marL="155448" indent="-155448">
              <a:spcAft>
                <a:spcPts val="800"/>
              </a:spcAft>
            </a:pPr>
            <a:r>
              <a:rPr sz="1250">
                <a:solidFill>
                  <a:srgbClr val="1A1A1A"/>
                </a:solidFill>
                <a:latin typeface="Calibri"/>
              </a:rPr>
              <a:t>·  Request and task records — the system of record</a:t>
            </a:r>
          </a:p>
          <a:p>
            <a:pPr marL="155448" indent="-155448">
              <a:spcAft>
                <a:spcPts val="800"/>
              </a:spcAft>
            </a:pPr>
            <a:r>
              <a:rPr sz="1250">
                <a:solidFill>
                  <a:srgbClr val="1A1A1A"/>
                </a:solidFill>
                <a:latin typeface="Calibri"/>
              </a:rPr>
              <a:t>·  Recurrence, next due date, renewal</a:t>
            </a:r>
          </a:p>
          <a:p>
            <a:pPr marL="155448" indent="-155448">
              <a:spcAft>
                <a:spcPts val="800"/>
              </a:spcAft>
            </a:pPr>
            <a:r>
              <a:rPr sz="1250">
                <a:solidFill>
                  <a:srgbClr val="1A1A1A"/>
                </a:solidFill>
                <a:latin typeface="Calibri"/>
              </a:rPr>
              <a:t>·  Scheduled jobs and overdue detection</a:t>
            </a:r>
          </a:p>
          <a:p>
            <a:pPr marL="155448" indent="-155448">
              <a:spcAft>
                <a:spcPts val="800"/>
              </a:spcAft>
            </a:pPr>
            <a:r>
              <a:rPr sz="1250">
                <a:solidFill>
                  <a:srgbClr val="1A1A1A"/>
                </a:solidFill>
                <a:latin typeface="Calibri"/>
              </a:rPr>
              <a:t>·  Approvals engine and attestation outcome</a:t>
            </a:r>
          </a:p>
          <a:p>
            <a:pPr marL="155448" indent="-155448">
              <a:spcAft>
                <a:spcPts val="800"/>
              </a:spcAft>
            </a:pPr>
            <a:r>
              <a:rPr sz="1250">
                <a:solidFill>
                  <a:srgbClr val="1A1A1A"/>
                </a:solidFill>
                <a:latin typeface="Calibri"/>
              </a:rPr>
              <a:t>·  Roles, ACLs, row-level security</a:t>
            </a:r>
          </a:p>
        </p:txBody>
      </p:sp>
      <p:sp>
        <p:nvSpPr>
          <p:cNvPr id="12" name="Rectangle 11"/>
          <p:cNvSpPr/>
          <p:nvPr/>
        </p:nvSpPr>
        <p:spPr>
          <a:xfrm>
            <a:off x="6278727" y="2432304"/>
            <a:ext cx="5135727" cy="384048"/>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9895" y="2523744"/>
            <a:ext cx="5135727" cy="274320"/>
          </a:xfrm>
          <a:prstGeom prst="rect">
            <a:avLst/>
          </a:prstGeom>
          <a:noFill/>
        </p:spPr>
        <p:txBody>
          <a:bodyPr wrap="square" lIns="0" rIns="0" tIns="0" bIns="0">
            <a:spAutoFit/>
          </a:bodyPr>
          <a:lstStyle/>
          <a:p>
            <a:pPr algn="l">
              <a:spcBef>
                <a:spcPts val="0"/>
              </a:spcBef>
              <a:spcAft>
                <a:spcPts val="0"/>
              </a:spcAft>
            </a:pPr>
            <a:r>
              <a:rPr sz="1350" b="1" i="0">
                <a:solidFill>
                  <a:srgbClr val="FFFFFF"/>
                </a:solidFill>
                <a:latin typeface="Calibri"/>
              </a:rPr>
              <a:t>Salesforce owns</a:t>
            </a:r>
          </a:p>
        </p:txBody>
      </p:sp>
      <p:sp>
        <p:nvSpPr>
          <p:cNvPr id="14" name="TextBox 13"/>
          <p:cNvSpPr txBox="1"/>
          <p:nvPr/>
        </p:nvSpPr>
        <p:spPr>
          <a:xfrm>
            <a:off x="6479895" y="2944368"/>
            <a:ext cx="4769967" cy="2377440"/>
          </a:xfrm>
          <a:prstGeom prst="rect">
            <a:avLst/>
          </a:prstGeom>
          <a:noFill/>
        </p:spPr>
        <p:txBody>
          <a:bodyPr wrap="square" lIns="0" rIns="0" tIns="0" bIns="0">
            <a:spAutoFit/>
          </a:bodyPr>
          <a:lstStyle/>
          <a:p>
            <a:pPr marL="155448" indent="-155448">
              <a:spcAft>
                <a:spcPts val="800"/>
              </a:spcAft>
            </a:pPr>
            <a:r>
              <a:rPr sz="1250">
                <a:solidFill>
                  <a:srgbClr val="1A1A1A"/>
                </a:solidFill>
                <a:latin typeface="Calibri"/>
              </a:rPr>
              <a:t>·  The business-facing user interface</a:t>
            </a:r>
          </a:p>
          <a:p>
            <a:pPr marL="155448" indent="-155448">
              <a:spcAft>
                <a:spcPts val="800"/>
              </a:spcAft>
            </a:pPr>
            <a:r>
              <a:rPr sz="1250">
                <a:solidFill>
                  <a:srgbClr val="1A1A1A"/>
                </a:solidFill>
                <a:latin typeface="Calibri"/>
              </a:rPr>
              <a:t>·  Application-owner portfolio view</a:t>
            </a:r>
          </a:p>
          <a:p>
            <a:pPr marL="155448" indent="-155448">
              <a:spcAft>
                <a:spcPts val="800"/>
              </a:spcAft>
            </a:pPr>
            <a:r>
              <a:rPr sz="1250">
                <a:solidFill>
                  <a:srgbClr val="1A1A1A"/>
                </a:solidFill>
                <a:latin typeface="Calibri"/>
              </a:rPr>
              <a:t>·  Drill-in to request and task detail</a:t>
            </a:r>
          </a:p>
          <a:p>
            <a:pPr marL="155448" indent="-155448">
              <a:spcAft>
                <a:spcPts val="800"/>
              </a:spcAft>
            </a:pPr>
            <a:r>
              <a:rPr sz="1250">
                <a:solidFill>
                  <a:srgbClr val="1A1A1A"/>
                </a:solidFill>
                <a:latin typeface="Calibri"/>
              </a:rPr>
              <a:t>·  Evidence upload, held in Salesforce Files</a:t>
            </a:r>
          </a:p>
          <a:p>
            <a:pPr marL="155448" indent="-155448">
              <a:spcAft>
                <a:spcPts val="800"/>
              </a:spcAft>
            </a:pPr>
            <a:r>
              <a:rPr sz="1250">
                <a:solidFill>
                  <a:srgbClr val="1A1A1A"/>
                </a:solidFill>
                <a:latin typeface="Calibri"/>
              </a:rPr>
              <a:t>·  Attestation submission</a:t>
            </a:r>
          </a:p>
          <a:p>
            <a:pPr marL="155448" indent="-155448">
              <a:spcAft>
                <a:spcPts val="800"/>
              </a:spcAft>
            </a:pPr>
            <a:r>
              <a:rPr sz="1250">
                <a:solidFill>
                  <a:srgbClr val="1A1A1A"/>
                </a:solidFill>
                <a:latin typeface="Calibri"/>
              </a:rPr>
              <a:t>·  The CAF dashboard, as a Lightning component</a:t>
            </a:r>
          </a:p>
        </p:txBody>
      </p:sp>
      <p:sp>
        <p:nvSpPr>
          <p:cNvPr id="15" name="Rectangle 14"/>
          <p:cNvSpPr/>
          <p:nvPr/>
        </p:nvSpPr>
        <p:spPr>
          <a:xfrm>
            <a:off x="777240" y="5358384"/>
            <a:ext cx="10637215" cy="7132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358384"/>
            <a:ext cx="44450" cy="713232"/>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486400"/>
            <a:ext cx="10180015" cy="530352"/>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Zero change to the 24 business rules, the recurrence logic or the security model. The engine is untouched, so delivery risk stays 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What an application owner sees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The CAF dashboard, inside Salesforce. Applications down the side, controls across the top — and the controls are drawn from the data, not from a fixed list.</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pic>
        <p:nvPicPr>
          <p:cNvPr id="7" name="Picture 6" descr="hero-dashboard.png"/>
          <p:cNvPicPr>
            <a:picLocks noChangeAspect="1"/>
          </p:cNvPicPr>
          <p:nvPr/>
        </p:nvPicPr>
        <p:blipFill>
          <a:blip r:embed="rId2"/>
          <a:stretch>
            <a:fillRect/>
          </a:stretch>
        </p:blipFill>
        <p:spPr>
          <a:xfrm>
            <a:off x="777240" y="1993392"/>
            <a:ext cx="10637215" cy="3789508"/>
          </a:xfrm>
          <a:prstGeom prst="rect">
            <a:avLst/>
          </a:prstGeom>
          <a:ln w="9525">
            <a:solidFill>
              <a:srgbClr val="D5D9E0"/>
            </a:solidFill>
          </a:ln>
        </p:spPr>
      </p:pic>
      <p:sp>
        <p:nvSpPr>
          <p:cNvPr id="8" name="TextBox 7"/>
          <p:cNvSpPr txBox="1"/>
          <p:nvPr/>
        </p:nvSpPr>
        <p:spPr>
          <a:xfrm>
            <a:off x="777240" y="5870448"/>
            <a:ext cx="10637215" cy="365760"/>
          </a:xfrm>
          <a:prstGeom prst="rect">
            <a:avLst/>
          </a:prstGeom>
          <a:noFill/>
        </p:spPr>
        <p:txBody>
          <a:bodyPr wrap="square" lIns="0" rIns="0" tIns="0" bIns="0">
            <a:spAutoFit/>
          </a:bodyPr>
          <a:lstStyle/>
          <a:p>
            <a:pPr algn="l">
              <a:lnSpc>
                <a:spcPct val="120000"/>
              </a:lnSpc>
              <a:spcBef>
                <a:spcPts val="0"/>
              </a:spcBef>
              <a:spcAft>
                <a:spcPts val="0"/>
              </a:spcAft>
            </a:pPr>
            <a:r>
              <a:rPr sz="1000" b="0" i="1">
                <a:solidFill>
                  <a:srgbClr val="606676"/>
                </a:solidFill>
                <a:latin typeface="Calibri"/>
              </a:rPr>
              <a:t>Live capture from the proof-of-concept org. Each dot is one control on one application; the Overall column is the verdict the business cares about. An application reads Compliant only when every one of its controls does.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From portfolio to the task in two clicks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Selecting a dot opens the request behind it and the tasks that make it up.</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pic>
        <p:nvPicPr>
          <p:cNvPr id="7" name="Picture 6" descr="drill-in.png"/>
          <p:cNvPicPr>
            <a:picLocks noChangeAspect="1"/>
          </p:cNvPicPr>
          <p:nvPr/>
        </p:nvPicPr>
        <p:blipFill>
          <a:blip r:embed="rId2"/>
          <a:stretch>
            <a:fillRect/>
          </a:stretch>
        </p:blipFill>
        <p:spPr>
          <a:xfrm>
            <a:off x="777240" y="1993392"/>
            <a:ext cx="10637215" cy="1649882"/>
          </a:xfrm>
          <a:prstGeom prst="rect">
            <a:avLst/>
          </a:prstGeom>
          <a:ln w="9525">
            <a:solidFill>
              <a:srgbClr val="D5D9E0"/>
            </a:solidFill>
          </a:ln>
        </p:spPr>
      </p:pic>
      <p:sp>
        <p:nvSpPr>
          <p:cNvPr id="8" name="TextBox 7"/>
          <p:cNvSpPr txBox="1"/>
          <p:nvPr/>
        </p:nvSpPr>
        <p:spPr>
          <a:xfrm>
            <a:off x="777240" y="3986784"/>
            <a:ext cx="10637215" cy="1956816"/>
          </a:xfrm>
          <a:prstGeom prst="rect">
            <a:avLst/>
          </a:prstGeom>
          <a:noFill/>
        </p:spPr>
        <p:txBody>
          <a:bodyPr wrap="square" lIns="0" rIns="0" tIns="0" bIns="0">
            <a:spAutoFit/>
          </a:bodyPr>
          <a:lstStyle/>
          <a:p>
            <a:pPr>
              <a:lnSpc>
                <a:spcPct val="122000"/>
              </a:lnSpc>
              <a:spcAft>
                <a:spcPts val="1100"/>
              </a:spcAft>
            </a:pPr>
            <a:r>
              <a:rPr sz="1400" b="1">
                <a:solidFill>
                  <a:srgbClr val="0A3176"/>
                </a:solidFill>
                <a:latin typeface="Calibri"/>
              </a:rPr>
              <a:t>Every action is a ServiceNow action.  </a:t>
            </a:r>
            <a:r>
              <a:rPr sz="1400">
                <a:solidFill>
                  <a:srgbClr val="1A1A1A"/>
                </a:solidFill>
                <a:latin typeface="Calibri"/>
              </a:rPr>
              <a:t>Salesforce sends the change, ServiceNow runs its own rules, and the resulting state comes back. The business user never sees the seam.</a:t>
            </a:r>
          </a:p>
          <a:p>
            <a:pPr>
              <a:lnSpc>
                <a:spcPct val="122000"/>
              </a:lnSpc>
              <a:spcAft>
                <a:spcPts val="1100"/>
              </a:spcAft>
            </a:pPr>
            <a:r>
              <a:rPr sz="1400" b="1">
                <a:solidFill>
                  <a:srgbClr val="0A3176"/>
                </a:solidFill>
                <a:latin typeface="Calibri"/>
              </a:rPr>
              <a:t>The available actions follow the state.  </a:t>
            </a:r>
            <a:r>
              <a:rPr sz="1400">
                <a:solidFill>
                  <a:srgbClr val="1A1A1A"/>
                </a:solidFill>
                <a:latin typeface="Calibri"/>
              </a:rPr>
              <a:t>An open task offers Start and Upload evidence; one in progress offers Attest; a closed one offers only its evidence — which is exactly what an audit asks for.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Evidence is gathered by the owner</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Upload the proof against the task it belongs to, without leaving Salesforce.</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pic>
        <p:nvPicPr>
          <p:cNvPr id="7" name="Picture 6" descr="evidence-owner.png"/>
          <p:cNvPicPr>
            <a:picLocks noChangeAspect="1"/>
          </p:cNvPicPr>
          <p:nvPr/>
        </p:nvPicPr>
        <p:blipFill>
          <a:blip r:embed="rId2"/>
          <a:stretch>
            <a:fillRect/>
          </a:stretch>
        </p:blipFill>
        <p:spPr>
          <a:xfrm>
            <a:off x="777240" y="1938528"/>
            <a:ext cx="10637215" cy="2269458"/>
          </a:xfrm>
          <a:prstGeom prst="rect">
            <a:avLst/>
          </a:prstGeom>
          <a:ln w="9525">
            <a:solidFill>
              <a:srgbClr val="D5D9E0"/>
            </a:solidFill>
          </a:ln>
        </p:spPr>
      </p:pic>
      <p:sp>
        <p:nvSpPr>
          <p:cNvPr id="8" name="TextBox 7"/>
          <p:cNvSpPr txBox="1"/>
          <p:nvPr/>
        </p:nvSpPr>
        <p:spPr>
          <a:xfrm>
            <a:off x="777240" y="4626864"/>
            <a:ext cx="10637215" cy="1316736"/>
          </a:xfrm>
          <a:prstGeom prst="rect">
            <a:avLst/>
          </a:prstGeom>
          <a:noFill/>
        </p:spPr>
        <p:txBody>
          <a:bodyPr wrap="square" lIns="0" rIns="0" tIns="0" bIns="0">
            <a:spAutoFit/>
          </a:bodyPr>
          <a:lstStyle/>
          <a:p>
            <a:pPr>
              <a:lnSpc>
                <a:spcPct val="122000"/>
              </a:lnSpc>
              <a:spcAft>
                <a:spcPts val="1100"/>
              </a:spcAft>
            </a:pPr>
            <a:r>
              <a:rPr sz="1400" b="1">
                <a:solidFill>
                  <a:srgbClr val="0A3176"/>
                </a:solidFill>
                <a:latin typeface="Calibri"/>
              </a:rPr>
              <a:t>Two copies, deliberately.  </a:t>
            </a:r>
            <a:r>
              <a:rPr sz="1400">
                <a:solidFill>
                  <a:srgbClr val="1A1A1A"/>
                </a:solidFill>
                <a:latin typeface="Calibri"/>
              </a:rPr>
              <a:t>Salesforce keeps the file so it previews and downloads natively; ServiceNow keeps the copy an auditor is entitled to. Both are listed side by side, so a failed transfer is visible rather than assumed.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Evidence is judged by someone else</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The approver sees the evidence read-only beside the attestation — enough to judge it, with no ability to add to it.</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pic>
        <p:nvPicPr>
          <p:cNvPr id="7" name="Picture 6" descr="attest-approver.png"/>
          <p:cNvPicPr>
            <a:picLocks noChangeAspect="1"/>
          </p:cNvPicPr>
          <p:nvPr/>
        </p:nvPicPr>
        <p:blipFill>
          <a:blip r:embed="rId2"/>
          <a:stretch>
            <a:fillRect/>
          </a:stretch>
        </p:blipFill>
        <p:spPr>
          <a:xfrm>
            <a:off x="777240" y="1975104"/>
            <a:ext cx="10637215" cy="3341534"/>
          </a:xfrm>
          <a:prstGeom prst="rect">
            <a:avLst/>
          </a:prstGeom>
          <a:ln w="9525">
            <a:solidFill>
              <a:srgbClr val="D5D9E0"/>
            </a:solidFill>
          </a:ln>
        </p:spPr>
      </p:pic>
      <p:sp>
        <p:nvSpPr>
          <p:cNvPr id="8" name="TextBox 7"/>
          <p:cNvSpPr txBox="1"/>
          <p:nvPr/>
        </p:nvSpPr>
        <p:spPr>
          <a:xfrm>
            <a:off x="777240" y="5705856"/>
            <a:ext cx="10637215" cy="365760"/>
          </a:xfrm>
          <a:prstGeom prst="rect">
            <a:avLst/>
          </a:prstGeom>
          <a:noFill/>
        </p:spPr>
        <p:txBody>
          <a:bodyPr wrap="square" lIns="0" rIns="0" tIns="0" bIns="0">
            <a:spAutoFit/>
          </a:bodyPr>
          <a:lstStyle/>
          <a:p>
            <a:pPr algn="l">
              <a:lnSpc>
                <a:spcPct val="120000"/>
              </a:lnSpc>
              <a:spcBef>
                <a:spcPts val="0"/>
              </a:spcBef>
              <a:spcAft>
                <a:spcPts val="0"/>
              </a:spcAft>
            </a:pPr>
            <a:r>
              <a:rPr sz="1000" b="0" i="1">
                <a:solidFill>
                  <a:srgbClr val="606676"/>
                </a:solidFill>
                <a:latin typeface="Calibri"/>
              </a:rPr>
              <a:t>Gathering evidence and attesting to it are separate panels because they are separate jobs. An attestation with no evidence behind it is refused outright.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A mirror is only useful if something checks it</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Sync Health compares every mirrored record against ServiceNow and reports the difference.</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pic>
        <p:nvPicPr>
          <p:cNvPr id="7" name="Picture 6" descr="sync-strip.png"/>
          <p:cNvPicPr>
            <a:picLocks noChangeAspect="1"/>
          </p:cNvPicPr>
          <p:nvPr/>
        </p:nvPicPr>
        <p:blipFill>
          <a:blip r:embed="rId2"/>
          <a:stretch>
            <a:fillRect/>
          </a:stretch>
        </p:blipFill>
        <p:spPr>
          <a:xfrm>
            <a:off x="777240" y="1975104"/>
            <a:ext cx="10637215" cy="522115"/>
          </a:xfrm>
          <a:prstGeom prst="rect">
            <a:avLst/>
          </a:prstGeom>
          <a:ln w="9525">
            <a:solidFill>
              <a:srgbClr val="D5D9E0"/>
            </a:solidFill>
          </a:ln>
        </p:spPr>
      </p:pic>
      <p:sp>
        <p:nvSpPr>
          <p:cNvPr id="8" name="TextBox 7"/>
          <p:cNvSpPr txBox="1"/>
          <p:nvPr/>
        </p:nvSpPr>
        <p:spPr>
          <a:xfrm>
            <a:off x="777240" y="2889504"/>
            <a:ext cx="10637215" cy="3054096"/>
          </a:xfrm>
          <a:prstGeom prst="rect">
            <a:avLst/>
          </a:prstGeom>
          <a:noFill/>
        </p:spPr>
        <p:txBody>
          <a:bodyPr wrap="square" lIns="0" rIns="0" tIns="0" bIns="0">
            <a:spAutoFit/>
          </a:bodyPr>
          <a:lstStyle/>
          <a:p>
            <a:pPr>
              <a:lnSpc>
                <a:spcPct val="122000"/>
              </a:lnSpc>
              <a:spcAft>
                <a:spcPts val="1100"/>
              </a:spcAft>
            </a:pPr>
            <a:r>
              <a:rPr sz="1400" b="1">
                <a:solidFill>
                  <a:srgbClr val="0A3176"/>
                </a:solidFill>
                <a:latin typeface="Calibri"/>
              </a:rPr>
              <a:t>It really goes and looks.  </a:t>
            </a:r>
            <a:r>
              <a:rPr sz="1400">
                <a:solidFill>
                  <a:srgbClr val="1A1A1A"/>
                </a:solidFill>
                <a:latin typeface="Calibri"/>
              </a:rPr>
              <a:t>The check is a live call to ServiceNow on every run, not a cached figure — so a green strip is evidence, not decoration.</a:t>
            </a:r>
          </a:p>
          <a:p>
            <a:pPr>
              <a:lnSpc>
                <a:spcPct val="122000"/>
              </a:lnSpc>
              <a:spcAft>
                <a:spcPts val="1100"/>
              </a:spcAft>
            </a:pPr>
            <a:r>
              <a:rPr sz="1400" b="1">
                <a:solidFill>
                  <a:srgbClr val="0A3176"/>
                </a:solidFill>
                <a:latin typeface="Calibri"/>
              </a:rPr>
              <a:t>Detection is automatic; repair never is.  </a:t>
            </a:r>
            <a:r>
              <a:rPr sz="1400">
                <a:solidFill>
                  <a:srgbClr val="1A1A1A"/>
                </a:solidFill>
                <a:latin typeface="Calibri"/>
              </a:rPr>
              <a:t>Drift is surfaced next to a Re-sync button that a person presses. Unattended repair can turn a Salesforce problem into a ServiceNow one.</a:t>
            </a:r>
          </a:p>
          <a:p>
            <a:pPr>
              <a:lnSpc>
                <a:spcPct val="122000"/>
              </a:lnSpc>
              <a:spcAft>
                <a:spcPts val="1100"/>
              </a:spcAft>
            </a:pPr>
            <a:r>
              <a:rPr sz="1400" b="1">
                <a:solidFill>
                  <a:srgbClr val="0A3176"/>
                </a:solidFill>
                <a:latin typeface="Calibri"/>
              </a:rPr>
              <a:t>Repair only ever flows one way.  </a:t>
            </a:r>
            <a:r>
              <a:rPr sz="1400">
                <a:solidFill>
                  <a:srgbClr val="1A1A1A"/>
                </a:solidFill>
                <a:latin typeface="Calibri"/>
              </a:rPr>
              <a:t>ServiceNow overwrites Salesforce. A mirror that disagrees with the system of record is stale by definition, so there is nothing to negotiate.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How we know it works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A written test pack, executed by an automated harness against both live platforms.</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1938528"/>
            <a:ext cx="2556433" cy="113385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38528"/>
            <a:ext cx="2556433" cy="44450"/>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57984"/>
            <a:ext cx="2282113" cy="548640"/>
          </a:xfrm>
          <a:prstGeom prst="rect">
            <a:avLst/>
          </a:prstGeom>
          <a:noFill/>
        </p:spPr>
        <p:txBody>
          <a:bodyPr wrap="square" lIns="0" rIns="0" tIns="0" bIns="0">
            <a:spAutoFit/>
          </a:bodyPr>
          <a:lstStyle/>
          <a:p>
            <a:pPr algn="l">
              <a:spcBef>
                <a:spcPts val="0"/>
              </a:spcBef>
              <a:spcAft>
                <a:spcPts val="0"/>
              </a:spcAft>
            </a:pPr>
            <a:r>
              <a:rPr sz="3200" b="1" i="0">
                <a:solidFill>
                  <a:srgbClr val="000724"/>
                </a:solidFill>
                <a:latin typeface="Calibri"/>
              </a:rPr>
              <a:t>130</a:t>
            </a:r>
          </a:p>
        </p:txBody>
      </p:sp>
      <p:sp>
        <p:nvSpPr>
          <p:cNvPr id="10" name="TextBox 9"/>
          <p:cNvSpPr txBox="1"/>
          <p:nvPr/>
        </p:nvSpPr>
        <p:spPr>
          <a:xfrm>
            <a:off x="960120" y="2688336"/>
            <a:ext cx="2282113" cy="365760"/>
          </a:xfrm>
          <a:prstGeom prst="rect">
            <a:avLst/>
          </a:prstGeom>
          <a:noFill/>
        </p:spPr>
        <p:txBody>
          <a:bodyPr wrap="square" lIns="0" rIns="0" tIns="0" bIns="0">
            <a:spAutoFit/>
          </a:bodyPr>
          <a:lstStyle/>
          <a:p>
            <a:pPr algn="l">
              <a:lnSpc>
                <a:spcPct val="110000"/>
              </a:lnSpc>
              <a:spcBef>
                <a:spcPts val="0"/>
              </a:spcBef>
              <a:spcAft>
                <a:spcPts val="0"/>
              </a:spcAft>
            </a:pPr>
            <a:r>
              <a:rPr sz="1100" b="0" i="0">
                <a:solidFill>
                  <a:srgbClr val="606676"/>
                </a:solidFill>
                <a:latin typeface="Calibri"/>
              </a:rPr>
              <a:t>test cases specified</a:t>
            </a:r>
          </a:p>
        </p:txBody>
      </p:sp>
      <p:sp>
        <p:nvSpPr>
          <p:cNvPr id="11" name="Rectangle 10"/>
          <p:cNvSpPr/>
          <p:nvPr/>
        </p:nvSpPr>
        <p:spPr>
          <a:xfrm>
            <a:off x="3470833" y="1938528"/>
            <a:ext cx="2556433" cy="113385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0833" y="1938528"/>
            <a:ext cx="2556433" cy="4445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3713" y="2157984"/>
            <a:ext cx="2282113" cy="548640"/>
          </a:xfrm>
          <a:prstGeom prst="rect">
            <a:avLst/>
          </a:prstGeom>
          <a:noFill/>
        </p:spPr>
        <p:txBody>
          <a:bodyPr wrap="square" lIns="0" rIns="0" tIns="0" bIns="0">
            <a:spAutoFit/>
          </a:bodyPr>
          <a:lstStyle/>
          <a:p>
            <a:pPr algn="l">
              <a:spcBef>
                <a:spcPts val="0"/>
              </a:spcBef>
              <a:spcAft>
                <a:spcPts val="0"/>
              </a:spcAft>
            </a:pPr>
            <a:r>
              <a:rPr sz="3200" b="1" i="0">
                <a:solidFill>
                  <a:srgbClr val="0A3176"/>
                </a:solidFill>
                <a:latin typeface="Calibri"/>
              </a:rPr>
              <a:t>31</a:t>
            </a:r>
          </a:p>
        </p:txBody>
      </p:sp>
      <p:sp>
        <p:nvSpPr>
          <p:cNvPr id="14" name="TextBox 13"/>
          <p:cNvSpPr txBox="1"/>
          <p:nvPr/>
        </p:nvSpPr>
        <p:spPr>
          <a:xfrm>
            <a:off x="3653713" y="2688336"/>
            <a:ext cx="2282113" cy="365760"/>
          </a:xfrm>
          <a:prstGeom prst="rect">
            <a:avLst/>
          </a:prstGeom>
          <a:noFill/>
        </p:spPr>
        <p:txBody>
          <a:bodyPr wrap="square" lIns="0" rIns="0" tIns="0" bIns="0">
            <a:spAutoFit/>
          </a:bodyPr>
          <a:lstStyle/>
          <a:p>
            <a:pPr algn="l">
              <a:lnSpc>
                <a:spcPct val="110000"/>
              </a:lnSpc>
              <a:spcBef>
                <a:spcPts val="0"/>
              </a:spcBef>
              <a:spcAft>
                <a:spcPts val="0"/>
              </a:spcAft>
            </a:pPr>
            <a:r>
              <a:rPr sz="1100" b="0" i="0">
                <a:solidFill>
                  <a:srgbClr val="606676"/>
                </a:solidFill>
                <a:latin typeface="Calibri"/>
              </a:rPr>
              <a:t>executed to date</a:t>
            </a:r>
          </a:p>
        </p:txBody>
      </p:sp>
      <p:sp>
        <p:nvSpPr>
          <p:cNvPr id="15" name="Rectangle 14"/>
          <p:cNvSpPr/>
          <p:nvPr/>
        </p:nvSpPr>
        <p:spPr>
          <a:xfrm>
            <a:off x="6164427" y="1938528"/>
            <a:ext cx="2556433" cy="113385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4427" y="1938528"/>
            <a:ext cx="2556433" cy="44450"/>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7307" y="2157984"/>
            <a:ext cx="2282113" cy="548640"/>
          </a:xfrm>
          <a:prstGeom prst="rect">
            <a:avLst/>
          </a:prstGeom>
          <a:noFill/>
        </p:spPr>
        <p:txBody>
          <a:bodyPr wrap="square" lIns="0" rIns="0" tIns="0" bIns="0">
            <a:spAutoFit/>
          </a:bodyPr>
          <a:lstStyle/>
          <a:p>
            <a:pPr algn="l">
              <a:spcBef>
                <a:spcPts val="0"/>
              </a:spcBef>
              <a:spcAft>
                <a:spcPts val="0"/>
              </a:spcAft>
            </a:pPr>
            <a:r>
              <a:rPr sz="3200" b="1" i="0">
                <a:solidFill>
                  <a:srgbClr val="0B6B3A"/>
                </a:solidFill>
                <a:latin typeface="Calibri"/>
              </a:rPr>
              <a:t>49</a:t>
            </a:r>
          </a:p>
        </p:txBody>
      </p:sp>
      <p:sp>
        <p:nvSpPr>
          <p:cNvPr id="18" name="TextBox 17"/>
          <p:cNvSpPr txBox="1"/>
          <p:nvPr/>
        </p:nvSpPr>
        <p:spPr>
          <a:xfrm>
            <a:off x="6347307" y="2688336"/>
            <a:ext cx="2282113" cy="365760"/>
          </a:xfrm>
          <a:prstGeom prst="rect">
            <a:avLst/>
          </a:prstGeom>
          <a:noFill/>
        </p:spPr>
        <p:txBody>
          <a:bodyPr wrap="square" lIns="0" rIns="0" tIns="0" bIns="0">
            <a:spAutoFit/>
          </a:bodyPr>
          <a:lstStyle/>
          <a:p>
            <a:pPr algn="l">
              <a:lnSpc>
                <a:spcPct val="110000"/>
              </a:lnSpc>
              <a:spcBef>
                <a:spcPts val="0"/>
              </a:spcBef>
              <a:spcAft>
                <a:spcPts val="0"/>
              </a:spcAft>
            </a:pPr>
            <a:r>
              <a:rPr sz="1100" b="0" i="0">
                <a:solidFill>
                  <a:srgbClr val="606676"/>
                </a:solidFill>
                <a:latin typeface="Calibri"/>
              </a:rPr>
              <a:t>records verified in sync</a:t>
            </a:r>
          </a:p>
        </p:txBody>
      </p:sp>
      <p:sp>
        <p:nvSpPr>
          <p:cNvPr id="19" name="Rectangle 18"/>
          <p:cNvSpPr/>
          <p:nvPr/>
        </p:nvSpPr>
        <p:spPr>
          <a:xfrm>
            <a:off x="8858021" y="1938528"/>
            <a:ext cx="2556433" cy="1133856"/>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58021" y="1938528"/>
            <a:ext cx="2556433" cy="44450"/>
          </a:xfrm>
          <a:prstGeom prst="rect">
            <a:avLst/>
          </a:prstGeom>
          <a:solidFill>
            <a:srgbClr val="A81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0901" y="2157984"/>
            <a:ext cx="2282113" cy="548640"/>
          </a:xfrm>
          <a:prstGeom prst="rect">
            <a:avLst/>
          </a:prstGeom>
          <a:noFill/>
        </p:spPr>
        <p:txBody>
          <a:bodyPr wrap="square" lIns="0" rIns="0" tIns="0" bIns="0">
            <a:spAutoFit/>
          </a:bodyPr>
          <a:lstStyle/>
          <a:p>
            <a:pPr algn="l">
              <a:spcBef>
                <a:spcPts val="0"/>
              </a:spcBef>
              <a:spcAft>
                <a:spcPts val="0"/>
              </a:spcAft>
            </a:pPr>
            <a:r>
              <a:rPr sz="3200" b="1" i="0">
                <a:solidFill>
                  <a:srgbClr val="A81845"/>
                </a:solidFill>
                <a:latin typeface="Calibri"/>
              </a:rPr>
              <a:t>6</a:t>
            </a:r>
          </a:p>
        </p:txBody>
      </p:sp>
      <p:sp>
        <p:nvSpPr>
          <p:cNvPr id="22" name="TextBox 21"/>
          <p:cNvSpPr txBox="1"/>
          <p:nvPr/>
        </p:nvSpPr>
        <p:spPr>
          <a:xfrm>
            <a:off x="9040901" y="2688336"/>
            <a:ext cx="2282113" cy="365760"/>
          </a:xfrm>
          <a:prstGeom prst="rect">
            <a:avLst/>
          </a:prstGeom>
          <a:noFill/>
        </p:spPr>
        <p:txBody>
          <a:bodyPr wrap="square" lIns="0" rIns="0" tIns="0" bIns="0">
            <a:spAutoFit/>
          </a:bodyPr>
          <a:lstStyle/>
          <a:p>
            <a:pPr algn="l">
              <a:lnSpc>
                <a:spcPct val="110000"/>
              </a:lnSpc>
              <a:spcBef>
                <a:spcPts val="0"/>
              </a:spcBef>
              <a:spcAft>
                <a:spcPts val="0"/>
              </a:spcAft>
            </a:pPr>
            <a:r>
              <a:rPr sz="1100" b="0" i="0">
                <a:solidFill>
                  <a:srgbClr val="606676"/>
                </a:solidFill>
                <a:latin typeface="Calibri"/>
              </a:rPr>
              <a:t>failing cases, 4 distinct defects</a:t>
            </a:r>
          </a:p>
        </p:txBody>
      </p:sp>
      <p:sp>
        <p:nvSpPr>
          <p:cNvPr id="23" name="TextBox 22"/>
          <p:cNvSpPr txBox="1"/>
          <p:nvPr/>
        </p:nvSpPr>
        <p:spPr>
          <a:xfrm>
            <a:off x="777240" y="3401568"/>
            <a:ext cx="10637215" cy="2542032"/>
          </a:xfrm>
          <a:prstGeom prst="rect">
            <a:avLst/>
          </a:prstGeom>
          <a:noFill/>
        </p:spPr>
        <p:txBody>
          <a:bodyPr wrap="square" lIns="0" rIns="0" tIns="0" bIns="0">
            <a:spAutoFit/>
          </a:bodyPr>
          <a:lstStyle/>
          <a:p>
            <a:pPr>
              <a:lnSpc>
                <a:spcPct val="122000"/>
              </a:lnSpc>
              <a:spcAft>
                <a:spcPts val="900"/>
              </a:spcAft>
            </a:pPr>
            <a:r>
              <a:rPr sz="1350" b="1">
                <a:solidFill>
                  <a:srgbClr val="0A3176"/>
                </a:solidFill>
                <a:latin typeface="Calibri"/>
              </a:rPr>
              <a:t>Two proofs for every case.  </a:t>
            </a:r>
            <a:r>
              <a:rPr sz="1350">
                <a:solidFill>
                  <a:srgbClr val="1A1A1A"/>
                </a:solidFill>
                <a:latin typeface="Calibri"/>
              </a:rPr>
              <a:t>Each case records what the screen showed and what the underlying record holds. A green confirmation message proves a form submitted, not that the rule behind it ran — and this architecture's characteristic failure is the two platforms quietly disagreeing, which a one-sided check cannot see.</a:t>
            </a:r>
          </a:p>
          <a:p>
            <a:pPr>
              <a:lnSpc>
                <a:spcPct val="122000"/>
              </a:lnSpc>
              <a:spcAft>
                <a:spcPts val="900"/>
              </a:spcAft>
            </a:pPr>
            <a:r>
              <a:rPr sz="1350" b="1">
                <a:solidFill>
                  <a:srgbClr val="0A3176"/>
                </a:solidFill>
                <a:latin typeface="Calibri"/>
              </a:rPr>
              <a:t>Nothing is retyped between specification and result.  </a:t>
            </a:r>
            <a:r>
              <a:rPr sz="1350">
                <a:solidFill>
                  <a:srgbClr val="1A1A1A"/>
                </a:solidFill>
                <a:latin typeface="Calibri"/>
              </a:rPr>
              <a:t>The evidence documents are generated from the test definitions and the recorded run, so a document cannot claim an expected result the specification does not contain.</a:t>
            </a:r>
          </a:p>
          <a:p>
            <a:pPr>
              <a:lnSpc>
                <a:spcPct val="122000"/>
              </a:lnSpc>
              <a:spcAft>
                <a:spcPts val="900"/>
              </a:spcAft>
            </a:pPr>
            <a:r>
              <a:rPr sz="1350" b="1">
                <a:solidFill>
                  <a:srgbClr val="0A3176"/>
                </a:solidFill>
                <a:latin typeface="Calibri"/>
              </a:rPr>
              <a:t>The 99 unexecuted cases are held by decision, not by capability.  </a:t>
            </a:r>
            <a:r>
              <a:rPr sz="1350">
                <a:solidFill>
                  <a:srgbClr val="1A1A1A"/>
                </a:solidFill>
                <a:latin typeface="Calibri"/>
              </a:rPr>
              <a:t>The harness covers all of them. Each one writes to a live platform, and those runs are being held for sign-off — several consume records that cannot be reset.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What has been run, and what it returned</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Every case below was executed against the live proof-of-concept environment.</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Rectangle 6"/>
          <p:cNvSpPr/>
          <p:nvPr/>
        </p:nvSpPr>
        <p:spPr>
          <a:xfrm>
            <a:off x="777240" y="2084831"/>
            <a:ext cx="10637215" cy="384048"/>
          </a:xfrm>
          <a:prstGeom prst="rect">
            <a:avLst/>
          </a:prstGeom>
          <a:solidFill>
            <a:srgbClr val="0007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185415"/>
            <a:ext cx="2560320" cy="274320"/>
          </a:xfrm>
          <a:prstGeom prst="rect">
            <a:avLst/>
          </a:prstGeom>
          <a:noFill/>
        </p:spPr>
        <p:txBody>
          <a:bodyPr wrap="square" lIns="0" rIns="0" tIns="0" bIns="0">
            <a:spAutoFit/>
          </a:bodyPr>
          <a:lstStyle/>
          <a:p>
            <a:pPr algn="l">
              <a:spcBef>
                <a:spcPts val="0"/>
              </a:spcBef>
              <a:spcAft>
                <a:spcPts val="0"/>
              </a:spcAft>
            </a:pPr>
            <a:r>
              <a:rPr sz="1200" b="1" i="0">
                <a:solidFill>
                  <a:srgbClr val="FFFFFF"/>
                </a:solidFill>
                <a:latin typeface="Calibri"/>
              </a:rPr>
              <a:t>Area</a:t>
            </a:r>
          </a:p>
        </p:txBody>
      </p:sp>
      <p:sp>
        <p:nvSpPr>
          <p:cNvPr id="9" name="TextBox 8"/>
          <p:cNvSpPr txBox="1"/>
          <p:nvPr/>
        </p:nvSpPr>
        <p:spPr>
          <a:xfrm>
            <a:off x="3666744" y="2185415"/>
            <a:ext cx="731520" cy="274320"/>
          </a:xfrm>
          <a:prstGeom prst="rect">
            <a:avLst/>
          </a:prstGeom>
          <a:noFill/>
        </p:spPr>
        <p:txBody>
          <a:bodyPr wrap="square" lIns="0" rIns="0" tIns="0" bIns="0">
            <a:spAutoFit/>
          </a:bodyPr>
          <a:lstStyle/>
          <a:p>
            <a:pPr algn="l">
              <a:spcBef>
                <a:spcPts val="0"/>
              </a:spcBef>
              <a:spcAft>
                <a:spcPts val="0"/>
              </a:spcAft>
            </a:pPr>
            <a:r>
              <a:rPr sz="1200" b="1" i="0">
                <a:solidFill>
                  <a:srgbClr val="FFFFFF"/>
                </a:solidFill>
                <a:latin typeface="Calibri"/>
              </a:rPr>
              <a:t>Cases</a:t>
            </a:r>
          </a:p>
        </p:txBody>
      </p:sp>
      <p:sp>
        <p:nvSpPr>
          <p:cNvPr id="10" name="TextBox 9"/>
          <p:cNvSpPr txBox="1"/>
          <p:nvPr/>
        </p:nvSpPr>
        <p:spPr>
          <a:xfrm>
            <a:off x="4581144" y="2185415"/>
            <a:ext cx="2148840" cy="274320"/>
          </a:xfrm>
          <a:prstGeom prst="rect">
            <a:avLst/>
          </a:prstGeom>
          <a:noFill/>
        </p:spPr>
        <p:txBody>
          <a:bodyPr wrap="square" lIns="0" rIns="0" tIns="0" bIns="0">
            <a:spAutoFit/>
          </a:bodyPr>
          <a:lstStyle/>
          <a:p>
            <a:pPr algn="l">
              <a:spcBef>
                <a:spcPts val="0"/>
              </a:spcBef>
              <a:spcAft>
                <a:spcPts val="0"/>
              </a:spcAft>
            </a:pPr>
            <a:r>
              <a:rPr sz="1200" b="1" i="0">
                <a:solidFill>
                  <a:srgbClr val="FFFFFF"/>
                </a:solidFill>
                <a:latin typeface="Calibri"/>
              </a:rPr>
              <a:t>Result</a:t>
            </a:r>
          </a:p>
        </p:txBody>
      </p:sp>
      <p:sp>
        <p:nvSpPr>
          <p:cNvPr id="11" name="TextBox 10"/>
          <p:cNvSpPr txBox="1"/>
          <p:nvPr/>
        </p:nvSpPr>
        <p:spPr>
          <a:xfrm>
            <a:off x="6912864" y="2185415"/>
            <a:ext cx="4370832" cy="274320"/>
          </a:xfrm>
          <a:prstGeom prst="rect">
            <a:avLst/>
          </a:prstGeom>
          <a:noFill/>
        </p:spPr>
        <p:txBody>
          <a:bodyPr wrap="square" lIns="0" rIns="0" tIns="0" bIns="0">
            <a:spAutoFit/>
          </a:bodyPr>
          <a:lstStyle/>
          <a:p>
            <a:pPr algn="l">
              <a:spcBef>
                <a:spcPts val="0"/>
              </a:spcBef>
              <a:spcAft>
                <a:spcPts val="0"/>
              </a:spcAft>
            </a:pPr>
            <a:r>
              <a:rPr sz="1200" b="1" i="0">
                <a:solidFill>
                  <a:srgbClr val="FFFFFF"/>
                </a:solidFill>
                <a:latin typeface="Calibri"/>
              </a:rPr>
              <a:t>What it covered</a:t>
            </a:r>
          </a:p>
        </p:txBody>
      </p:sp>
      <p:sp>
        <p:nvSpPr>
          <p:cNvPr id="12" name="Rectangle 11"/>
          <p:cNvSpPr/>
          <p:nvPr/>
        </p:nvSpPr>
        <p:spPr>
          <a:xfrm>
            <a:off x="777240" y="2468879"/>
            <a:ext cx="10637215" cy="56692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642615"/>
            <a:ext cx="2523744" cy="365760"/>
          </a:xfrm>
          <a:prstGeom prst="rect">
            <a:avLst/>
          </a:prstGeom>
          <a:noFill/>
        </p:spPr>
        <p:txBody>
          <a:bodyPr wrap="square" lIns="0" rIns="0" tIns="0" bIns="0">
            <a:spAutoFit/>
          </a:bodyPr>
          <a:lstStyle/>
          <a:p>
            <a:pPr algn="l">
              <a:spcBef>
                <a:spcPts val="0"/>
              </a:spcBef>
              <a:spcAft>
                <a:spcPts val="0"/>
              </a:spcAft>
            </a:pPr>
            <a:r>
              <a:rPr sz="1250" b="1" i="0">
                <a:solidFill>
                  <a:srgbClr val="1A1A1A"/>
                </a:solidFill>
                <a:latin typeface="Calibri"/>
              </a:rPr>
              <a:t>Salesforce user interface</a:t>
            </a:r>
          </a:p>
        </p:txBody>
      </p:sp>
      <p:sp>
        <p:nvSpPr>
          <p:cNvPr id="14" name="TextBox 13"/>
          <p:cNvSpPr txBox="1"/>
          <p:nvPr/>
        </p:nvSpPr>
        <p:spPr>
          <a:xfrm>
            <a:off x="3666744" y="2642615"/>
            <a:ext cx="694944" cy="365760"/>
          </a:xfrm>
          <a:prstGeom prst="rect">
            <a:avLst/>
          </a:prstGeom>
          <a:noFill/>
        </p:spPr>
        <p:txBody>
          <a:bodyPr wrap="square" lIns="0" rIns="0" tIns="0" bIns="0">
            <a:spAutoFit/>
          </a:bodyPr>
          <a:lstStyle/>
          <a:p>
            <a:pPr algn="l">
              <a:spcBef>
                <a:spcPts val="0"/>
              </a:spcBef>
              <a:spcAft>
                <a:spcPts val="0"/>
              </a:spcAft>
            </a:pPr>
            <a:r>
              <a:rPr sz="1250" b="0" i="0">
                <a:solidFill>
                  <a:srgbClr val="1A1A1A"/>
                </a:solidFill>
                <a:latin typeface="Calibri"/>
              </a:rPr>
              <a:t>7</a:t>
            </a:r>
          </a:p>
        </p:txBody>
      </p:sp>
      <p:sp>
        <p:nvSpPr>
          <p:cNvPr id="15" name="TextBox 14"/>
          <p:cNvSpPr txBox="1"/>
          <p:nvPr/>
        </p:nvSpPr>
        <p:spPr>
          <a:xfrm>
            <a:off x="4581144" y="2642615"/>
            <a:ext cx="2112264" cy="365760"/>
          </a:xfrm>
          <a:prstGeom prst="rect">
            <a:avLst/>
          </a:prstGeom>
          <a:noFill/>
        </p:spPr>
        <p:txBody>
          <a:bodyPr wrap="square" lIns="0" rIns="0" tIns="0" bIns="0">
            <a:spAutoFit/>
          </a:bodyPr>
          <a:lstStyle/>
          <a:p>
            <a:pPr algn="l">
              <a:spcBef>
                <a:spcPts val="0"/>
              </a:spcBef>
              <a:spcAft>
                <a:spcPts val="0"/>
              </a:spcAft>
            </a:pPr>
            <a:r>
              <a:rPr sz="1250" b="1" i="0">
                <a:solidFill>
                  <a:srgbClr val="0B6B3A"/>
                </a:solidFill>
                <a:latin typeface="Calibri"/>
              </a:rPr>
              <a:t>7 pass</a:t>
            </a:r>
          </a:p>
        </p:txBody>
      </p:sp>
      <p:sp>
        <p:nvSpPr>
          <p:cNvPr id="16" name="TextBox 15"/>
          <p:cNvSpPr txBox="1"/>
          <p:nvPr/>
        </p:nvSpPr>
        <p:spPr>
          <a:xfrm>
            <a:off x="6912864" y="2642615"/>
            <a:ext cx="4334256" cy="365760"/>
          </a:xfrm>
          <a:prstGeom prst="rect">
            <a:avLst/>
          </a:prstGeom>
          <a:noFill/>
        </p:spPr>
        <p:txBody>
          <a:bodyPr wrap="square" lIns="0" rIns="0" tIns="0" bIns="0">
            <a:spAutoFit/>
          </a:bodyPr>
          <a:lstStyle/>
          <a:p>
            <a:pPr algn="l">
              <a:spcBef>
                <a:spcPts val="0"/>
              </a:spcBef>
              <a:spcAft>
                <a:spcPts val="0"/>
              </a:spcAft>
            </a:pPr>
            <a:r>
              <a:rPr sz="1150" b="0" i="0">
                <a:solidFill>
                  <a:srgbClr val="606676"/>
                </a:solidFill>
                <a:latin typeface="Calibri"/>
              </a:rPr>
              <a:t>Dashboard, drill-in, evidence and attestation panels, sync strip</a:t>
            </a:r>
          </a:p>
        </p:txBody>
      </p:sp>
      <p:sp>
        <p:nvSpPr>
          <p:cNvPr id="17" name="Rectangle 16"/>
          <p:cNvSpPr/>
          <p:nvPr/>
        </p:nvSpPr>
        <p:spPr>
          <a:xfrm>
            <a:off x="777240" y="3035807"/>
            <a:ext cx="10637215" cy="56692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3209543"/>
            <a:ext cx="2523744" cy="365760"/>
          </a:xfrm>
          <a:prstGeom prst="rect">
            <a:avLst/>
          </a:prstGeom>
          <a:noFill/>
        </p:spPr>
        <p:txBody>
          <a:bodyPr wrap="square" lIns="0" rIns="0" tIns="0" bIns="0">
            <a:spAutoFit/>
          </a:bodyPr>
          <a:lstStyle/>
          <a:p>
            <a:pPr algn="l">
              <a:spcBef>
                <a:spcPts val="0"/>
              </a:spcBef>
              <a:spcAft>
                <a:spcPts val="0"/>
              </a:spcAft>
            </a:pPr>
            <a:r>
              <a:rPr sz="1250" b="1" i="0">
                <a:solidFill>
                  <a:srgbClr val="1A1A1A"/>
                </a:solidFill>
                <a:latin typeface="Calibri"/>
              </a:rPr>
              <a:t>Integration, record level</a:t>
            </a:r>
          </a:p>
        </p:txBody>
      </p:sp>
      <p:sp>
        <p:nvSpPr>
          <p:cNvPr id="19" name="TextBox 18"/>
          <p:cNvSpPr txBox="1"/>
          <p:nvPr/>
        </p:nvSpPr>
        <p:spPr>
          <a:xfrm>
            <a:off x="3666744" y="3209543"/>
            <a:ext cx="694944" cy="365760"/>
          </a:xfrm>
          <a:prstGeom prst="rect">
            <a:avLst/>
          </a:prstGeom>
          <a:noFill/>
        </p:spPr>
        <p:txBody>
          <a:bodyPr wrap="square" lIns="0" rIns="0" tIns="0" bIns="0">
            <a:spAutoFit/>
          </a:bodyPr>
          <a:lstStyle/>
          <a:p>
            <a:pPr algn="l">
              <a:spcBef>
                <a:spcPts val="0"/>
              </a:spcBef>
              <a:spcAft>
                <a:spcPts val="0"/>
              </a:spcAft>
            </a:pPr>
            <a:r>
              <a:rPr sz="1250" b="0" i="0">
                <a:solidFill>
                  <a:srgbClr val="1A1A1A"/>
                </a:solidFill>
                <a:latin typeface="Calibri"/>
              </a:rPr>
              <a:t>17</a:t>
            </a:r>
          </a:p>
        </p:txBody>
      </p:sp>
      <p:sp>
        <p:nvSpPr>
          <p:cNvPr id="20" name="TextBox 19"/>
          <p:cNvSpPr txBox="1"/>
          <p:nvPr/>
        </p:nvSpPr>
        <p:spPr>
          <a:xfrm>
            <a:off x="4581144" y="3209543"/>
            <a:ext cx="2112264" cy="365760"/>
          </a:xfrm>
          <a:prstGeom prst="rect">
            <a:avLst/>
          </a:prstGeom>
          <a:noFill/>
        </p:spPr>
        <p:txBody>
          <a:bodyPr wrap="square" lIns="0" rIns="0" tIns="0" bIns="0">
            <a:spAutoFit/>
          </a:bodyPr>
          <a:lstStyle/>
          <a:p>
            <a:pPr algn="l">
              <a:spcBef>
                <a:spcPts val="0"/>
              </a:spcBef>
              <a:spcAft>
                <a:spcPts val="0"/>
              </a:spcAft>
            </a:pPr>
            <a:r>
              <a:rPr sz="1250" b="1" i="0">
                <a:solidFill>
                  <a:srgbClr val="B26A00"/>
                </a:solidFill>
                <a:latin typeface="Calibri"/>
              </a:rPr>
              <a:t>13 pass · 3 fail · 1 blocked</a:t>
            </a:r>
          </a:p>
        </p:txBody>
      </p:sp>
      <p:sp>
        <p:nvSpPr>
          <p:cNvPr id="21" name="TextBox 20"/>
          <p:cNvSpPr txBox="1"/>
          <p:nvPr/>
        </p:nvSpPr>
        <p:spPr>
          <a:xfrm>
            <a:off x="6912864" y="3209543"/>
            <a:ext cx="4334256" cy="365760"/>
          </a:xfrm>
          <a:prstGeom prst="rect">
            <a:avLst/>
          </a:prstGeom>
          <a:noFill/>
        </p:spPr>
        <p:txBody>
          <a:bodyPr wrap="square" lIns="0" rIns="0" tIns="0" bIns="0">
            <a:spAutoFit/>
          </a:bodyPr>
          <a:lstStyle/>
          <a:p>
            <a:pPr algn="l">
              <a:spcBef>
                <a:spcPts val="0"/>
              </a:spcBef>
              <a:spcAft>
                <a:spcPts val="0"/>
              </a:spcAft>
            </a:pPr>
            <a:r>
              <a:rPr sz="1150" b="0" i="0">
                <a:solidFill>
                  <a:srgbClr val="606676"/>
                </a:solidFill>
                <a:latin typeface="Calibri"/>
              </a:rPr>
              <a:t>Mirror integrity, idempotency, echo-loop guard, API budget</a:t>
            </a:r>
          </a:p>
        </p:txBody>
      </p:sp>
      <p:sp>
        <p:nvSpPr>
          <p:cNvPr id="22" name="Rectangle 21"/>
          <p:cNvSpPr/>
          <p:nvPr/>
        </p:nvSpPr>
        <p:spPr>
          <a:xfrm>
            <a:off x="777240" y="3602735"/>
            <a:ext cx="10637215" cy="566928"/>
          </a:xfrm>
          <a:prstGeom prst="rect">
            <a:avLst/>
          </a:prstGeom>
          <a:noFill/>
          <a:ln w="9525">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 y="3776471"/>
            <a:ext cx="2523744" cy="365760"/>
          </a:xfrm>
          <a:prstGeom prst="rect">
            <a:avLst/>
          </a:prstGeom>
          <a:noFill/>
        </p:spPr>
        <p:txBody>
          <a:bodyPr wrap="square" lIns="0" rIns="0" tIns="0" bIns="0">
            <a:spAutoFit/>
          </a:bodyPr>
          <a:lstStyle/>
          <a:p>
            <a:pPr algn="l">
              <a:spcBef>
                <a:spcPts val="0"/>
              </a:spcBef>
              <a:spcAft>
                <a:spcPts val="0"/>
              </a:spcAft>
            </a:pPr>
            <a:r>
              <a:rPr sz="1250" b="1" i="0">
                <a:solidFill>
                  <a:srgbClr val="1A1A1A"/>
                </a:solidFill>
                <a:latin typeface="Calibri"/>
              </a:rPr>
              <a:t>ServiceNow engine and portal</a:t>
            </a:r>
          </a:p>
        </p:txBody>
      </p:sp>
      <p:sp>
        <p:nvSpPr>
          <p:cNvPr id="24" name="TextBox 23"/>
          <p:cNvSpPr txBox="1"/>
          <p:nvPr/>
        </p:nvSpPr>
        <p:spPr>
          <a:xfrm>
            <a:off x="3666744" y="3776471"/>
            <a:ext cx="694944" cy="365760"/>
          </a:xfrm>
          <a:prstGeom prst="rect">
            <a:avLst/>
          </a:prstGeom>
          <a:noFill/>
        </p:spPr>
        <p:txBody>
          <a:bodyPr wrap="square" lIns="0" rIns="0" tIns="0" bIns="0">
            <a:spAutoFit/>
          </a:bodyPr>
          <a:lstStyle/>
          <a:p>
            <a:pPr algn="l">
              <a:spcBef>
                <a:spcPts val="0"/>
              </a:spcBef>
              <a:spcAft>
                <a:spcPts val="0"/>
              </a:spcAft>
            </a:pPr>
            <a:r>
              <a:rPr sz="1250" b="0" i="0">
                <a:solidFill>
                  <a:srgbClr val="1A1A1A"/>
                </a:solidFill>
                <a:latin typeface="Calibri"/>
              </a:rPr>
              <a:t>7</a:t>
            </a:r>
          </a:p>
        </p:txBody>
      </p:sp>
      <p:sp>
        <p:nvSpPr>
          <p:cNvPr id="25" name="TextBox 24"/>
          <p:cNvSpPr txBox="1"/>
          <p:nvPr/>
        </p:nvSpPr>
        <p:spPr>
          <a:xfrm>
            <a:off x="4581144" y="3776471"/>
            <a:ext cx="2112264" cy="365760"/>
          </a:xfrm>
          <a:prstGeom prst="rect">
            <a:avLst/>
          </a:prstGeom>
          <a:noFill/>
        </p:spPr>
        <p:txBody>
          <a:bodyPr wrap="square" lIns="0" rIns="0" tIns="0" bIns="0">
            <a:spAutoFit/>
          </a:bodyPr>
          <a:lstStyle/>
          <a:p>
            <a:pPr algn="l">
              <a:spcBef>
                <a:spcPts val="0"/>
              </a:spcBef>
              <a:spcAft>
                <a:spcPts val="0"/>
              </a:spcAft>
            </a:pPr>
            <a:r>
              <a:rPr sz="1250" b="1" i="0">
                <a:solidFill>
                  <a:srgbClr val="B26A00"/>
                </a:solidFill>
                <a:latin typeface="Calibri"/>
              </a:rPr>
              <a:t>4 pass · 3 fail</a:t>
            </a:r>
          </a:p>
        </p:txBody>
      </p:sp>
      <p:sp>
        <p:nvSpPr>
          <p:cNvPr id="26" name="TextBox 25"/>
          <p:cNvSpPr txBox="1"/>
          <p:nvPr/>
        </p:nvSpPr>
        <p:spPr>
          <a:xfrm>
            <a:off x="6912864" y="3776471"/>
            <a:ext cx="4334256" cy="365760"/>
          </a:xfrm>
          <a:prstGeom prst="rect">
            <a:avLst/>
          </a:prstGeom>
          <a:noFill/>
        </p:spPr>
        <p:txBody>
          <a:bodyPr wrap="square" lIns="0" rIns="0" tIns="0" bIns="0">
            <a:spAutoFit/>
          </a:bodyPr>
          <a:lstStyle/>
          <a:p>
            <a:pPr algn="l">
              <a:spcBef>
                <a:spcPts val="0"/>
              </a:spcBef>
              <a:spcAft>
                <a:spcPts val="0"/>
              </a:spcAft>
            </a:pPr>
            <a:r>
              <a:rPr sz="1150" b="0" i="0">
                <a:solidFill>
                  <a:srgbClr val="606676"/>
                </a:solidFill>
                <a:latin typeface="Calibri"/>
              </a:rPr>
              <a:t>Data model, choice sets, compliance roll-up, approvals</a:t>
            </a:r>
          </a:p>
        </p:txBody>
      </p:sp>
      <p:sp>
        <p:nvSpPr>
          <p:cNvPr id="27" name="TextBox 26"/>
          <p:cNvSpPr txBox="1"/>
          <p:nvPr/>
        </p:nvSpPr>
        <p:spPr>
          <a:xfrm>
            <a:off x="777240" y="4443984"/>
            <a:ext cx="10637215" cy="1499616"/>
          </a:xfrm>
          <a:prstGeom prst="rect">
            <a:avLst/>
          </a:prstGeom>
          <a:noFill/>
        </p:spPr>
        <p:txBody>
          <a:bodyPr wrap="square" lIns="0" rIns="0" tIns="0" bIns="0">
            <a:spAutoFit/>
          </a:bodyPr>
          <a:lstStyle/>
          <a:p>
            <a:pPr>
              <a:lnSpc>
                <a:spcPct val="122000"/>
              </a:lnSpc>
              <a:spcAft>
                <a:spcPts val="1000"/>
              </a:spcAft>
            </a:pPr>
            <a:r>
              <a:rPr sz="1300" b="1">
                <a:solidFill>
                  <a:srgbClr val="0A3176"/>
                </a:solidFill>
                <a:latin typeface="Calibri"/>
              </a:rPr>
              <a:t>The six failures are one small set of defects, seen from both sides.  </a:t>
            </a:r>
            <a:r>
              <a:rPr sz="1300">
                <a:solidFill>
                  <a:srgbClr val="1A1A1A"/>
                </a:solidFill>
                <a:latin typeface="Calibri"/>
              </a:rPr>
              <a:t>None is a fault in the test harness, and none blocks the demonstration. The material one is on the next slide.</a:t>
            </a:r>
          </a:p>
          <a:p>
            <a:pPr>
              <a:lnSpc>
                <a:spcPct val="122000"/>
              </a:lnSpc>
              <a:spcAft>
                <a:spcPts val="1000"/>
              </a:spcAft>
            </a:pPr>
            <a:r>
              <a:rPr sz="1300" b="1">
                <a:solidFill>
                  <a:srgbClr val="0A3176"/>
                </a:solidFill>
                <a:latin typeface="Calibri"/>
              </a:rPr>
              <a:t>Start, Approve and Reject were read as controls and deliberately not clicked.  </a:t>
            </a:r>
            <a:r>
              <a:rPr sz="1300">
                <a:solidFill>
                  <a:srgbClr val="1A1A1A"/>
                </a:solidFill>
                <a:latin typeface="Calibri"/>
              </a:rPr>
              <a:t>Each closes a task irreversibly in the system of record.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The finding that matters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53312"/>
            <a:ext cx="10637215" cy="365760"/>
          </a:xfrm>
          <a:prstGeom prst="rect">
            <a:avLst/>
          </a:prstGeom>
          <a:noFill/>
        </p:spPr>
        <p:txBody>
          <a:bodyPr wrap="square" lIns="0" rIns="0" tIns="0" bIns="0">
            <a:spAutoFit/>
          </a:bodyPr>
          <a:lstStyle/>
          <a:p>
            <a:pPr algn="l">
              <a:lnSpc>
                <a:spcPct val="125000"/>
              </a:lnSpc>
              <a:spcBef>
                <a:spcPts val="0"/>
              </a:spcBef>
              <a:spcAft>
                <a:spcPts val="0"/>
              </a:spcAft>
            </a:pPr>
            <a:r>
              <a:rPr sz="1350" b="0" i="0">
                <a:solidFill>
                  <a:srgbClr val="606676"/>
                </a:solidFill>
                <a:latin typeface="Calibri"/>
              </a:rPr>
              <a:t>The two platforms disagree about which applications are compliant — and Salesforce is the one that has it right.</a:t>
            </a:r>
          </a:p>
        </p:txBody>
      </p:sp>
      <p:sp>
        <p:nvSpPr>
          <p:cNvPr id="5" name="TextBox 4"/>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6" name="TextBox 5"/>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7" name="TextBox 6"/>
          <p:cNvSpPr txBox="1"/>
          <p:nvPr/>
        </p:nvSpPr>
        <p:spPr>
          <a:xfrm>
            <a:off x="777240" y="2048256"/>
            <a:ext cx="10637215" cy="274320"/>
          </a:xfrm>
          <a:prstGeom prst="rect">
            <a:avLst/>
          </a:prstGeom>
          <a:noFill/>
        </p:spPr>
        <p:txBody>
          <a:bodyPr wrap="square" lIns="0" rIns="0" tIns="0" bIns="0">
            <a:spAutoFit/>
          </a:bodyPr>
          <a:lstStyle/>
          <a:p>
            <a:pPr algn="l">
              <a:spcBef>
                <a:spcPts val="0"/>
              </a:spcBef>
              <a:spcAft>
                <a:spcPts val="0"/>
              </a:spcAft>
            </a:pPr>
            <a:r>
              <a:rPr sz="1200" b="1" i="0">
                <a:solidFill>
                  <a:srgbClr val="A81845"/>
                </a:solidFill>
                <a:latin typeface="Calibri"/>
              </a:rPr>
              <a:t>ServiceNow — reads Compliant for both</a:t>
            </a:r>
          </a:p>
        </p:txBody>
      </p:sp>
      <p:pic>
        <p:nvPicPr>
          <p:cNvPr id="8" name="Picture 7" descr="sn-grid-pair.png"/>
          <p:cNvPicPr>
            <a:picLocks noChangeAspect="1"/>
          </p:cNvPicPr>
          <p:nvPr/>
        </p:nvPicPr>
        <p:blipFill>
          <a:blip r:embed="rId2"/>
          <a:stretch>
            <a:fillRect/>
          </a:stretch>
        </p:blipFill>
        <p:spPr>
          <a:xfrm>
            <a:off x="777240" y="2322576"/>
            <a:ext cx="10637215" cy="1583257"/>
          </a:xfrm>
          <a:prstGeom prst="rect">
            <a:avLst/>
          </a:prstGeom>
          <a:ln w="9525">
            <a:solidFill>
              <a:srgbClr val="D5D9E0"/>
            </a:solidFill>
          </a:ln>
        </p:spPr>
      </p:pic>
      <p:sp>
        <p:nvSpPr>
          <p:cNvPr id="9" name="TextBox 8"/>
          <p:cNvSpPr txBox="1"/>
          <p:nvPr/>
        </p:nvSpPr>
        <p:spPr>
          <a:xfrm>
            <a:off x="777240" y="4078224"/>
            <a:ext cx="10637215" cy="274320"/>
          </a:xfrm>
          <a:prstGeom prst="rect">
            <a:avLst/>
          </a:prstGeom>
          <a:noFill/>
        </p:spPr>
        <p:txBody>
          <a:bodyPr wrap="square" lIns="0" rIns="0" tIns="0" bIns="0">
            <a:spAutoFit/>
          </a:bodyPr>
          <a:lstStyle/>
          <a:p>
            <a:pPr algn="l">
              <a:spcBef>
                <a:spcPts val="0"/>
              </a:spcBef>
              <a:spcAft>
                <a:spcPts val="0"/>
              </a:spcAft>
            </a:pPr>
            <a:r>
              <a:rPr sz="1200" b="1" i="0">
                <a:solidFill>
                  <a:srgbClr val="0B6B3A"/>
                </a:solidFill>
                <a:latin typeface="Calibri"/>
              </a:rPr>
              <a:t>Salesforce — reads 2 of 6 for both</a:t>
            </a:r>
          </a:p>
        </p:txBody>
      </p:sp>
      <p:pic>
        <p:nvPicPr>
          <p:cNvPr id="10" name="Picture 9" descr="sf-grid-pair.png"/>
          <p:cNvPicPr>
            <a:picLocks noChangeAspect="1"/>
          </p:cNvPicPr>
          <p:nvPr/>
        </p:nvPicPr>
        <p:blipFill>
          <a:blip r:embed="rId3"/>
          <a:stretch>
            <a:fillRect/>
          </a:stretch>
        </p:blipFill>
        <p:spPr>
          <a:xfrm>
            <a:off x="777240" y="4352544"/>
            <a:ext cx="10637215" cy="870191"/>
          </a:xfrm>
          <a:prstGeom prst="rect">
            <a:avLst/>
          </a:prstGeom>
          <a:ln w="9525">
            <a:solidFill>
              <a:srgbClr val="D5D9E0"/>
            </a:solidFill>
          </a:ln>
        </p:spPr>
      </p:pic>
      <p:sp>
        <p:nvSpPr>
          <p:cNvPr id="11" name="Rectangle 10"/>
          <p:cNvSpPr/>
          <p:nvPr/>
        </p:nvSpPr>
        <p:spPr>
          <a:xfrm>
            <a:off x="777240" y="5413248"/>
            <a:ext cx="10637215" cy="786384"/>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413248"/>
            <a:ext cx="44450" cy="786384"/>
          </a:xfrm>
          <a:prstGeom prst="rect">
            <a:avLst/>
          </a:prstGeom>
          <a:solidFill>
            <a:srgbClr val="A81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5541264"/>
            <a:ext cx="10180015" cy="603504"/>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Same two applications, same control results — four of six out of compliance each. Salesforce computes the roll-up and is arithmetically right; the ServiceNow field is set by a rule that never checks sibling controls. One rule to fix, and the mirror needs no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Where this stands</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5" name="TextBox 4"/>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6" name="Rectangle 5"/>
          <p:cNvSpPr/>
          <p:nvPr/>
        </p:nvSpPr>
        <p:spPr>
          <a:xfrm>
            <a:off x="777240" y="1481328"/>
            <a:ext cx="5135727" cy="384048"/>
          </a:xfrm>
          <a:prstGeom prst="rect">
            <a:avLst/>
          </a:prstGeom>
          <a:solidFill>
            <a:srgbClr val="0B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 y="1572768"/>
            <a:ext cx="5135727" cy="274320"/>
          </a:xfrm>
          <a:prstGeom prst="rect">
            <a:avLst/>
          </a:prstGeom>
          <a:noFill/>
        </p:spPr>
        <p:txBody>
          <a:bodyPr wrap="square" lIns="0" rIns="0" tIns="0" bIns="0">
            <a:spAutoFit/>
          </a:bodyPr>
          <a:lstStyle/>
          <a:p>
            <a:pPr algn="l">
              <a:spcBef>
                <a:spcPts val="0"/>
              </a:spcBef>
              <a:spcAft>
                <a:spcPts val="0"/>
              </a:spcAft>
            </a:pPr>
            <a:r>
              <a:rPr sz="1350" b="1" i="0">
                <a:solidFill>
                  <a:srgbClr val="FFFFFF"/>
                </a:solidFill>
                <a:latin typeface="Calibri"/>
              </a:rPr>
              <a:t>Proven and working</a:t>
            </a:r>
          </a:p>
        </p:txBody>
      </p:sp>
      <p:sp>
        <p:nvSpPr>
          <p:cNvPr id="8" name="TextBox 7"/>
          <p:cNvSpPr txBox="1"/>
          <p:nvPr/>
        </p:nvSpPr>
        <p:spPr>
          <a:xfrm>
            <a:off x="978408" y="2048256"/>
            <a:ext cx="4769967" cy="3108960"/>
          </a:xfrm>
          <a:prstGeom prst="rect">
            <a:avLst/>
          </a:prstGeom>
          <a:noFill/>
        </p:spPr>
        <p:txBody>
          <a:bodyPr wrap="square" lIns="0" rIns="0" tIns="0" bIns="0">
            <a:spAutoFit/>
          </a:bodyPr>
          <a:lstStyle/>
          <a:p>
            <a:pPr marL="155448" indent="-155448">
              <a:lnSpc>
                <a:spcPct val="118000"/>
              </a:lnSpc>
              <a:spcAft>
                <a:spcPts val="1100"/>
              </a:spcAft>
            </a:pPr>
            <a:r>
              <a:rPr sz="1250">
                <a:solidFill>
                  <a:srgbClr val="1A1A1A"/>
                </a:solidFill>
                <a:latin typeface="Calibri"/>
              </a:rPr>
              <a:t>·  Compliance dashboard in Salesforce, live against ServiceNow data</a:t>
            </a:r>
          </a:p>
          <a:p>
            <a:pPr marL="155448" indent="-155448">
              <a:lnSpc>
                <a:spcPct val="118000"/>
              </a:lnSpc>
              <a:spcAft>
                <a:spcPts val="1100"/>
              </a:spcAft>
            </a:pPr>
            <a:r>
              <a:rPr sz="1250">
                <a:solidFill>
                  <a:srgbClr val="1A1A1A"/>
                </a:solidFill>
                <a:latin typeface="Calibri"/>
              </a:rPr>
              <a:t>·  19 requests and 30 tasks mirrored, verified record by record</a:t>
            </a:r>
          </a:p>
          <a:p>
            <a:pPr marL="155448" indent="-155448">
              <a:lnSpc>
                <a:spcPct val="118000"/>
              </a:lnSpc>
              <a:spcAft>
                <a:spcPts val="1100"/>
              </a:spcAft>
            </a:pPr>
            <a:r>
              <a:rPr sz="1250">
                <a:solidFill>
                  <a:srgbClr val="1A1A1A"/>
                </a:solidFill>
                <a:latin typeface="Calibri"/>
              </a:rPr>
              <a:t>·  Evidence upload, stored on both platforms</a:t>
            </a:r>
          </a:p>
          <a:p>
            <a:pPr marL="155448" indent="-155448">
              <a:lnSpc>
                <a:spcPct val="118000"/>
              </a:lnSpc>
              <a:spcAft>
                <a:spcPts val="1100"/>
              </a:spcAft>
            </a:pPr>
            <a:r>
              <a:rPr sz="1250">
                <a:solidFill>
                  <a:srgbClr val="1A1A1A"/>
                </a:solidFill>
                <a:latin typeface="Calibri"/>
              </a:rPr>
              <a:t>·  Attestation end to end — approve, close, update compliance status</a:t>
            </a:r>
          </a:p>
          <a:p>
            <a:pPr marL="155448" indent="-155448">
              <a:lnSpc>
                <a:spcPct val="118000"/>
              </a:lnSpc>
              <a:spcAft>
                <a:spcPts val="1100"/>
              </a:spcAft>
            </a:pPr>
            <a:r>
              <a:rPr sz="1250">
                <a:solidFill>
                  <a:srgbClr val="1A1A1A"/>
                </a:solidFill>
                <a:latin typeface="Calibri"/>
              </a:rPr>
              <a:t>·  Sync Health: drift detected, repaired, and confirmed clean</a:t>
            </a:r>
          </a:p>
        </p:txBody>
      </p:sp>
      <p:sp>
        <p:nvSpPr>
          <p:cNvPr id="9" name="Rectangle 8"/>
          <p:cNvSpPr/>
          <p:nvPr/>
        </p:nvSpPr>
        <p:spPr>
          <a:xfrm>
            <a:off x="6278727" y="1481328"/>
            <a:ext cx="5135727" cy="384048"/>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9895" y="1572768"/>
            <a:ext cx="5135727" cy="274320"/>
          </a:xfrm>
          <a:prstGeom prst="rect">
            <a:avLst/>
          </a:prstGeom>
          <a:noFill/>
        </p:spPr>
        <p:txBody>
          <a:bodyPr wrap="square" lIns="0" rIns="0" tIns="0" bIns="0">
            <a:spAutoFit/>
          </a:bodyPr>
          <a:lstStyle/>
          <a:p>
            <a:pPr algn="l">
              <a:spcBef>
                <a:spcPts val="0"/>
              </a:spcBef>
              <a:spcAft>
                <a:spcPts val="0"/>
              </a:spcAft>
            </a:pPr>
            <a:r>
              <a:rPr sz="1350" b="1" i="0">
                <a:solidFill>
                  <a:srgbClr val="FFFFFF"/>
                </a:solidFill>
                <a:latin typeface="Calibri"/>
              </a:rPr>
              <a:t>Not yet built</a:t>
            </a:r>
          </a:p>
        </p:txBody>
      </p:sp>
      <p:sp>
        <p:nvSpPr>
          <p:cNvPr id="11" name="TextBox 10"/>
          <p:cNvSpPr txBox="1"/>
          <p:nvPr/>
        </p:nvSpPr>
        <p:spPr>
          <a:xfrm>
            <a:off x="6479895" y="2048256"/>
            <a:ext cx="4769967" cy="3108960"/>
          </a:xfrm>
          <a:prstGeom prst="rect">
            <a:avLst/>
          </a:prstGeom>
          <a:noFill/>
        </p:spPr>
        <p:txBody>
          <a:bodyPr wrap="square" lIns="0" rIns="0" tIns="0" bIns="0">
            <a:spAutoFit/>
          </a:bodyPr>
          <a:lstStyle/>
          <a:p>
            <a:pPr marL="155448" indent="-155448">
              <a:lnSpc>
                <a:spcPct val="118000"/>
              </a:lnSpc>
              <a:spcAft>
                <a:spcPts val="1100"/>
              </a:spcAft>
            </a:pPr>
            <a:r>
              <a:rPr sz="1250">
                <a:solidFill>
                  <a:srgbClr val="1A1A1A"/>
                </a:solidFill>
                <a:latin typeface="Calibri"/>
              </a:rPr>
              <a:t>·  The licence-free access surface — the point of the whole business case</a:t>
            </a:r>
          </a:p>
          <a:p>
            <a:pPr marL="155448" indent="-155448">
              <a:lnSpc>
                <a:spcPct val="118000"/>
              </a:lnSpc>
              <a:spcAft>
                <a:spcPts val="1100"/>
              </a:spcAft>
            </a:pPr>
            <a:r>
              <a:rPr sz="1250">
                <a:solidFill>
                  <a:srgbClr val="1A1A1A"/>
                </a:solidFill>
                <a:latin typeface="Calibri"/>
              </a:rPr>
              <a:t>·  Automated test coverage on the Salesforce service classes</a:t>
            </a:r>
          </a:p>
          <a:p>
            <a:pPr marL="155448" indent="-155448">
              <a:lnSpc>
                <a:spcPct val="118000"/>
              </a:lnSpc>
              <a:spcAft>
                <a:spcPts val="1100"/>
              </a:spcAft>
            </a:pPr>
            <a:r>
              <a:rPr sz="1250">
                <a:solidFill>
                  <a:srgbClr val="1A1A1A"/>
                </a:solidFill>
                <a:latin typeface="Calibri"/>
              </a:rPr>
              <a:t>·  A named approver on the record, rather than whoever pressed the button</a:t>
            </a:r>
          </a:p>
          <a:p>
            <a:pPr marL="155448" indent="-155448">
              <a:lnSpc>
                <a:spcPct val="118000"/>
              </a:lnSpc>
              <a:spcAft>
                <a:spcPts val="1100"/>
              </a:spcAft>
            </a:pPr>
            <a:r>
              <a:rPr sz="1250">
                <a:solidFill>
                  <a:srgbClr val="1A1A1A"/>
                </a:solidFill>
                <a:latin typeface="Calibri"/>
              </a:rPr>
              <a:t>·  Queued delivery, so a ServiceNow outage doesn't surface to the user</a:t>
            </a:r>
          </a:p>
          <a:p>
            <a:pPr marL="155448" indent="-155448">
              <a:lnSpc>
                <a:spcPct val="118000"/>
              </a:lnSpc>
              <a:spcAft>
                <a:spcPts val="1100"/>
              </a:spcAft>
            </a:pPr>
            <a:r>
              <a:rPr sz="1250">
                <a:solidFill>
                  <a:srgbClr val="1A1A1A"/>
                </a:solidFill>
                <a:latin typeface="Calibri"/>
              </a:rPr>
              <a:t>·  Production security model — deliberately out of scope for the proof of concept</a:t>
            </a:r>
          </a:p>
        </p:txBody>
      </p:sp>
      <p:sp>
        <p:nvSpPr>
          <p:cNvPr id="12" name="Rectangle 11"/>
          <p:cNvSpPr/>
          <p:nvPr/>
        </p:nvSpPr>
        <p:spPr>
          <a:xfrm>
            <a:off x="777240" y="4882896"/>
            <a:ext cx="10637215" cy="713232"/>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882896"/>
            <a:ext cx="44450" cy="713232"/>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5010912"/>
            <a:ext cx="10180015" cy="530352"/>
          </a:xfrm>
          <a:prstGeom prst="rect">
            <a:avLst/>
          </a:prstGeom>
          <a:noFill/>
        </p:spPr>
        <p:txBody>
          <a:bodyPr wrap="square" lIns="0" rIns="0" tIns="0" bIns="0">
            <a:spAutoFit/>
          </a:bodyPr>
          <a:lstStyle/>
          <a:p>
            <a:pPr algn="l">
              <a:lnSpc>
                <a:spcPct val="124000"/>
              </a:lnSpc>
              <a:spcBef>
                <a:spcPts val="0"/>
              </a:spcBef>
              <a:spcAft>
                <a:spcPts val="0"/>
              </a:spcAft>
            </a:pPr>
            <a:r>
              <a:rPr sz="1350" b="1" i="0">
                <a:solidFill>
                  <a:srgbClr val="000724"/>
                </a:solidFill>
                <a:latin typeface="Calibri"/>
              </a:rPr>
              <a:t>The engagement layer is demonstrably real. What remains is the access surface that converts it into the licence saving, and the hardening any move toward production would require.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548640"/>
          </a:xfrm>
          <a:prstGeom prst="rect">
            <a:avLst/>
          </a:prstGeom>
          <a:noFill/>
        </p:spPr>
        <p:txBody>
          <a:bodyPr wrap="square" lIns="0" rIns="0" tIns="0" bIns="0">
            <a:spAutoFit/>
          </a:bodyPr>
          <a:lstStyle/>
          <a:p>
            <a:pPr algn="l">
              <a:spcBef>
                <a:spcPts val="0"/>
              </a:spcBef>
              <a:spcAft>
                <a:spcPts val="0"/>
              </a:spcAft>
            </a:pPr>
            <a:r>
              <a:rPr sz="2700" b="1" i="0">
                <a:solidFill>
                  <a:srgbClr val="000724"/>
                </a:solidFill>
                <a:latin typeface="Calibri"/>
              </a:rPr>
              <a:t>What we're asking for</a:t>
            </a:r>
          </a:p>
        </p:txBody>
      </p:sp>
      <p:sp>
        <p:nvSpPr>
          <p:cNvPr id="3" name="Rectangle 2"/>
          <p:cNvSpPr/>
          <p:nvPr/>
        </p:nvSpPr>
        <p:spPr>
          <a:xfrm>
            <a:off x="777240" y="1133856"/>
            <a:ext cx="1371600" cy="38100"/>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327648"/>
            <a:ext cx="10180015" cy="228600"/>
          </a:xfrm>
          <a:prstGeom prst="rect">
            <a:avLst/>
          </a:prstGeom>
          <a:noFill/>
        </p:spPr>
        <p:txBody>
          <a:bodyPr wrap="square" lIns="0" rIns="0" tIns="0" bIns="0">
            <a:spAutoFit/>
          </a:bodyPr>
          <a:lstStyle/>
          <a:p>
            <a:pPr algn="l">
              <a:spcBef>
                <a:spcPts val="0"/>
              </a:spcBef>
              <a:spcAft>
                <a:spcPts val="0"/>
              </a:spcAft>
            </a:pPr>
            <a:r>
              <a:rPr sz="800" b="0" i="0">
                <a:solidFill>
                  <a:srgbClr val="606676"/>
                </a:solidFill>
                <a:latin typeface="Calibri"/>
              </a:rPr>
              <a:t>Confidential — prepared by Reyan Technologies. Not for redistribution without written consent.</a:t>
            </a:r>
          </a:p>
        </p:txBody>
      </p:sp>
      <p:sp>
        <p:nvSpPr>
          <p:cNvPr id="5" name="TextBox 4"/>
          <p:cNvSpPr txBox="1"/>
          <p:nvPr/>
        </p:nvSpPr>
        <p:spPr>
          <a:xfrm>
            <a:off x="10957255" y="6327648"/>
            <a:ext cx="457200" cy="228600"/>
          </a:xfrm>
          <a:prstGeom prst="rect">
            <a:avLst/>
          </a:prstGeom>
          <a:noFill/>
        </p:spPr>
        <p:txBody>
          <a:bodyPr wrap="square" lIns="0" rIns="0" tIns="0" bIns="0">
            <a:spAutoFit/>
          </a:bodyPr>
          <a:lstStyle/>
          <a:p>
            <a:pPr algn="r"/>
            <a:fld id="{B7A2E3C1-4F6D-4A9E-9C31-2D5E8F0A7B44}" type="slidenum">
              <a:rPr lang="en-GB" sz="800">
                <a:solidFill>
                  <a:srgbClr val="606676"/>
                </a:solidFill>
                <a:latin typeface="Calibri"/>
              </a:rPr>
              <a:t>2</a:t>
            </a:fld>
          </a:p>
        </p:txBody>
      </p:sp>
      <p:sp>
        <p:nvSpPr>
          <p:cNvPr id="6" name="Rectangle 5"/>
          <p:cNvSpPr/>
          <p:nvPr/>
        </p:nvSpPr>
        <p:spPr>
          <a:xfrm>
            <a:off x="777240" y="1517904"/>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9344"/>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1</a:t>
            </a:r>
          </a:p>
        </p:txBody>
      </p:sp>
      <p:sp>
        <p:nvSpPr>
          <p:cNvPr id="8" name="TextBox 7"/>
          <p:cNvSpPr txBox="1"/>
          <p:nvPr/>
        </p:nvSpPr>
        <p:spPr>
          <a:xfrm>
            <a:off x="1399032" y="1536192"/>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Fix the compliance roll-up rule.</a:t>
            </a:r>
          </a:p>
          <a:p>
            <a:pPr algn="l">
              <a:lnSpc>
                <a:spcPct val="120000"/>
              </a:lnSpc>
              <a:spcBef>
                <a:spcPts val="300"/>
              </a:spcBef>
              <a:spcAft>
                <a:spcPts val="0"/>
              </a:spcAft>
            </a:pPr>
            <a:r>
              <a:rPr sz="1250" b="0" i="0">
                <a:solidFill>
                  <a:srgbClr val="1A1A1A"/>
                </a:solidFill>
                <a:latin typeface="Calibri"/>
              </a:rPr>
              <a:t>One ServiceNow business rule. It makes both grids agree and removes the only defect a business user would actually notice.</a:t>
            </a:r>
          </a:p>
        </p:txBody>
      </p:sp>
      <p:sp>
        <p:nvSpPr>
          <p:cNvPr id="9" name="Rectangle 8"/>
          <p:cNvSpPr/>
          <p:nvPr/>
        </p:nvSpPr>
        <p:spPr>
          <a:xfrm>
            <a:off x="777240" y="2670048"/>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61488"/>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2</a:t>
            </a:r>
          </a:p>
        </p:txBody>
      </p:sp>
      <p:sp>
        <p:nvSpPr>
          <p:cNvPr id="11" name="TextBox 10"/>
          <p:cNvSpPr txBox="1"/>
          <p:nvPr/>
        </p:nvSpPr>
        <p:spPr>
          <a:xfrm>
            <a:off x="1399032" y="2688336"/>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Decide on the licence-free access surface.</a:t>
            </a:r>
          </a:p>
          <a:p>
            <a:pPr algn="l">
              <a:lnSpc>
                <a:spcPct val="120000"/>
              </a:lnSpc>
              <a:spcBef>
                <a:spcPts val="300"/>
              </a:spcBef>
              <a:spcAft>
                <a:spcPts val="0"/>
              </a:spcAft>
            </a:pPr>
            <a:r>
              <a:rPr sz="1250" b="0" i="0">
                <a:solidFill>
                  <a:srgbClr val="1A1A1A"/>
                </a:solidFill>
                <a:latin typeface="Calibri"/>
              </a:rPr>
              <a:t>Confirm the available Experience Cloud licence count, then approve building the site. Until this exists, the adoption and licensing argument is demonstrated but not delivered.</a:t>
            </a:r>
          </a:p>
        </p:txBody>
      </p:sp>
      <p:sp>
        <p:nvSpPr>
          <p:cNvPr id="12" name="Rectangle 11"/>
          <p:cNvSpPr/>
          <p:nvPr/>
        </p:nvSpPr>
        <p:spPr>
          <a:xfrm>
            <a:off x="777240" y="3822192"/>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913632"/>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3</a:t>
            </a:r>
          </a:p>
        </p:txBody>
      </p:sp>
      <p:sp>
        <p:nvSpPr>
          <p:cNvPr id="14" name="TextBox 13"/>
          <p:cNvSpPr txBox="1"/>
          <p:nvPr/>
        </p:nvSpPr>
        <p:spPr>
          <a:xfrm>
            <a:off x="1399032" y="3840480"/>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Release the remaining test cases to run.</a:t>
            </a:r>
          </a:p>
          <a:p>
            <a:pPr algn="l">
              <a:lnSpc>
                <a:spcPct val="120000"/>
              </a:lnSpc>
              <a:spcBef>
                <a:spcPts val="300"/>
              </a:spcBef>
              <a:spcAft>
                <a:spcPts val="0"/>
              </a:spcAft>
            </a:pPr>
            <a:r>
              <a:rPr sz="1250" b="0" i="0">
                <a:solidFill>
                  <a:srgbClr val="1A1A1A"/>
                </a:solidFill>
                <a:latin typeface="Calibri"/>
              </a:rPr>
              <a:t>99 specified cases are held pending approval to write to the live environment. The harness is built; what is needed is sign-off.</a:t>
            </a:r>
          </a:p>
        </p:txBody>
      </p:sp>
      <p:sp>
        <p:nvSpPr>
          <p:cNvPr id="15" name="Rectangle 14"/>
          <p:cNvSpPr/>
          <p:nvPr/>
        </p:nvSpPr>
        <p:spPr>
          <a:xfrm>
            <a:off x="777240" y="4974336"/>
            <a:ext cx="402336" cy="402336"/>
          </a:xfrm>
          <a:prstGeom prst="rect">
            <a:avLst/>
          </a:prstGeom>
          <a:solidFill>
            <a:srgbClr val="0A31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065776"/>
            <a:ext cx="402336" cy="274320"/>
          </a:xfrm>
          <a:prstGeom prst="rect">
            <a:avLst/>
          </a:prstGeom>
          <a:noFill/>
        </p:spPr>
        <p:txBody>
          <a:bodyPr wrap="square" lIns="0" rIns="0" tIns="0" bIns="0">
            <a:spAutoFit/>
          </a:bodyPr>
          <a:lstStyle/>
          <a:p>
            <a:pPr algn="ctr">
              <a:spcBef>
                <a:spcPts val="0"/>
              </a:spcBef>
              <a:spcAft>
                <a:spcPts val="0"/>
              </a:spcAft>
            </a:pPr>
            <a:r>
              <a:rPr sz="1400" b="1" i="0">
                <a:solidFill>
                  <a:srgbClr val="FFFFFF"/>
                </a:solidFill>
                <a:latin typeface="Calibri"/>
              </a:rPr>
              <a:t>4</a:t>
            </a:r>
          </a:p>
        </p:txBody>
      </p:sp>
      <p:sp>
        <p:nvSpPr>
          <p:cNvPr id="17" name="TextBox 16"/>
          <p:cNvSpPr txBox="1"/>
          <p:nvPr/>
        </p:nvSpPr>
        <p:spPr>
          <a:xfrm>
            <a:off x="1399032" y="4992624"/>
            <a:ext cx="10015423" cy="914400"/>
          </a:xfrm>
          <a:prstGeom prst="rect">
            <a:avLst/>
          </a:prstGeom>
          <a:noFill/>
        </p:spPr>
        <p:txBody>
          <a:bodyPr wrap="square" lIns="0" rIns="0" tIns="0" bIns="0">
            <a:spAutoFit/>
          </a:bodyPr>
          <a:lstStyle/>
          <a:p>
            <a:pPr algn="l">
              <a:spcBef>
                <a:spcPts val="0"/>
              </a:spcBef>
              <a:spcAft>
                <a:spcPts val="0"/>
              </a:spcAft>
            </a:pPr>
            <a:r>
              <a:rPr sz="1500" b="1" i="0">
                <a:solidFill>
                  <a:srgbClr val="000724"/>
                </a:solidFill>
                <a:latin typeface="Calibri"/>
              </a:rPr>
              <a:t>Fund the production-readiness work.</a:t>
            </a:r>
          </a:p>
          <a:p>
            <a:pPr algn="l">
              <a:lnSpc>
                <a:spcPct val="120000"/>
              </a:lnSpc>
              <a:spcBef>
                <a:spcPts val="300"/>
              </a:spcBef>
              <a:spcAft>
                <a:spcPts val="0"/>
              </a:spcAft>
            </a:pPr>
            <a:r>
              <a:rPr sz="1250" b="0" i="0">
                <a:solidFill>
                  <a:srgbClr val="1A1A1A"/>
                </a:solidFill>
                <a:latin typeface="Calibri"/>
              </a:rPr>
              <a:t>Automated test coverage, queued delivery, a named approver on the record, and the security model that was deliberately deferred.</a:t>
            </a:r>
          </a:p>
        </p:txBody>
      </p:sp>
      <p:sp>
        <p:nvSpPr>
          <p:cNvPr id="18" name="TextBox 17"/>
          <p:cNvSpPr txBox="1"/>
          <p:nvPr/>
        </p:nvSpPr>
        <p:spPr>
          <a:xfrm>
            <a:off x="777240" y="5760720"/>
            <a:ext cx="10637215" cy="320040"/>
          </a:xfrm>
          <a:prstGeom prst="rect">
            <a:avLst/>
          </a:prstGeom>
          <a:noFill/>
        </p:spPr>
        <p:txBody>
          <a:bodyPr wrap="square" lIns="0" rIns="0" tIns="0" bIns="0">
            <a:spAutoFit/>
          </a:bodyPr>
          <a:lstStyle/>
          <a:p>
            <a:pPr algn="l">
              <a:spcBef>
                <a:spcPts val="0"/>
              </a:spcBef>
              <a:spcAft>
                <a:spcPts val="0"/>
              </a:spcAft>
            </a:pPr>
            <a:r>
              <a:rPr sz="1300" b="1" i="1">
                <a:solidFill>
                  <a:srgbClr val="0A3176"/>
                </a:solidFill>
                <a:latin typeface="Calibri"/>
              </a:rPr>
              <a:t>The compliance engine does not change. Everything above is delivery around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